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iSYEolRDDylOsLgw2IMyddnJhR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customschemas.google.com/relationships/presentationmetadata" Target="metadata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1e2bc6d316_0_0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1e2bc6d316_0_0:notes"/>
          <p:cNvSpPr/>
          <p:nvPr>
            <p:ph idx="2" type="sldImg"/>
          </p:nvPr>
        </p:nvSpPr>
        <p:spPr>
          <a:xfrm>
            <a:off x="91291" y="685838"/>
            <a:ext cx="6675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1e2bc6d316_0_6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1e2bc6d316_0_6:notes"/>
          <p:cNvSpPr/>
          <p:nvPr>
            <p:ph idx="2" type="sldImg"/>
          </p:nvPr>
        </p:nvSpPr>
        <p:spPr>
          <a:xfrm>
            <a:off x="91291" y="685838"/>
            <a:ext cx="6675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1e2bc6d316_0_12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1e2bc6d316_0_12:notes"/>
          <p:cNvSpPr/>
          <p:nvPr>
            <p:ph idx="2" type="sldImg"/>
          </p:nvPr>
        </p:nvSpPr>
        <p:spPr>
          <a:xfrm>
            <a:off x="91291" y="685838"/>
            <a:ext cx="6675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1e2bc6d316_0_18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1e2bc6d316_0_18:notes"/>
          <p:cNvSpPr/>
          <p:nvPr>
            <p:ph idx="2" type="sldImg"/>
          </p:nvPr>
        </p:nvSpPr>
        <p:spPr>
          <a:xfrm>
            <a:off x="91291" y="685838"/>
            <a:ext cx="6675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1e2bc6d316_0_24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1e2bc6d316_0_24:notes"/>
          <p:cNvSpPr/>
          <p:nvPr>
            <p:ph idx="2" type="sldImg"/>
          </p:nvPr>
        </p:nvSpPr>
        <p:spPr>
          <a:xfrm>
            <a:off x="91278" y="685838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1e2bc6d316_0_37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1e2bc6d316_0_37:notes"/>
          <p:cNvSpPr/>
          <p:nvPr>
            <p:ph idx="2" type="sldImg"/>
          </p:nvPr>
        </p:nvSpPr>
        <p:spPr>
          <a:xfrm>
            <a:off x="91278" y="685838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1e2bc6d316_0_45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1e2bc6d316_0_45:notes"/>
          <p:cNvSpPr/>
          <p:nvPr>
            <p:ph idx="2" type="sldImg"/>
          </p:nvPr>
        </p:nvSpPr>
        <p:spPr>
          <a:xfrm>
            <a:off x="91278" y="685838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1e2bc6d316_0_59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g31e2bc6d316_0_59:notes"/>
          <p:cNvSpPr/>
          <p:nvPr>
            <p:ph idx="2" type="sldImg"/>
          </p:nvPr>
        </p:nvSpPr>
        <p:spPr>
          <a:xfrm>
            <a:off x="91278" y="685838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1e2bc6d316_0_75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1e2bc6d316_0_75:notes"/>
          <p:cNvSpPr/>
          <p:nvPr>
            <p:ph idx="2" type="sldImg"/>
          </p:nvPr>
        </p:nvSpPr>
        <p:spPr>
          <a:xfrm>
            <a:off x="91278" y="685838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1e2bc6d316_0_82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1e2bc6d316_0_82:notes"/>
          <p:cNvSpPr/>
          <p:nvPr>
            <p:ph idx="2" type="sldImg"/>
          </p:nvPr>
        </p:nvSpPr>
        <p:spPr>
          <a:xfrm>
            <a:off x="91278" y="685838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1e2bc6d316_0_93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31e2bc6d316_0_93:notes"/>
          <p:cNvSpPr/>
          <p:nvPr>
            <p:ph idx="2" type="sldImg"/>
          </p:nvPr>
        </p:nvSpPr>
        <p:spPr>
          <a:xfrm>
            <a:off x="91278" y="685838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1e2bc6d316_0_105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g31e2bc6d316_0_105:notes"/>
          <p:cNvSpPr/>
          <p:nvPr>
            <p:ph idx="2" type="sldImg"/>
          </p:nvPr>
        </p:nvSpPr>
        <p:spPr>
          <a:xfrm>
            <a:off x="91278" y="685838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1e2bc6d316_0_125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1e2bc6d316_0_125:notes"/>
          <p:cNvSpPr/>
          <p:nvPr>
            <p:ph idx="2" type="sldImg"/>
          </p:nvPr>
        </p:nvSpPr>
        <p:spPr>
          <a:xfrm>
            <a:off x="91278" y="685838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1e2bc6d316_0_142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31e2bc6d316_0_142:notes"/>
          <p:cNvSpPr/>
          <p:nvPr>
            <p:ph idx="2" type="sldImg"/>
          </p:nvPr>
        </p:nvSpPr>
        <p:spPr>
          <a:xfrm>
            <a:off x="91278" y="685838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1e2bc6d316_0_147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31e2bc6d316_0_147:notes"/>
          <p:cNvSpPr/>
          <p:nvPr>
            <p:ph idx="2" type="sldImg"/>
          </p:nvPr>
        </p:nvSpPr>
        <p:spPr>
          <a:xfrm>
            <a:off x="91278" y="685838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1e2bc6d316_0_153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31e2bc6d316_0_153:notes"/>
          <p:cNvSpPr/>
          <p:nvPr>
            <p:ph idx="2" type="sldImg"/>
          </p:nvPr>
        </p:nvSpPr>
        <p:spPr>
          <a:xfrm>
            <a:off x="91278" y="685838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1e2bc6d316_0_182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1e2bc6d316_0_182:notes"/>
          <p:cNvSpPr/>
          <p:nvPr>
            <p:ph idx="2" type="sldImg"/>
          </p:nvPr>
        </p:nvSpPr>
        <p:spPr>
          <a:xfrm>
            <a:off x="91278" y="685838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1e2bc6d316_0_161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g31e2bc6d316_0_161:notes"/>
          <p:cNvSpPr/>
          <p:nvPr>
            <p:ph idx="2" type="sldImg"/>
          </p:nvPr>
        </p:nvSpPr>
        <p:spPr>
          <a:xfrm>
            <a:off x="91278" y="685838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1e2bc6d316_0_205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g31e2bc6d316_0_205:notes"/>
          <p:cNvSpPr/>
          <p:nvPr>
            <p:ph idx="2" type="sldImg"/>
          </p:nvPr>
        </p:nvSpPr>
        <p:spPr>
          <a:xfrm>
            <a:off x="91278" y="685838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1e2bc6d316_0_227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g31e2bc6d316_0_227:notes"/>
          <p:cNvSpPr/>
          <p:nvPr>
            <p:ph idx="2" type="sldImg"/>
          </p:nvPr>
        </p:nvSpPr>
        <p:spPr>
          <a:xfrm>
            <a:off x="91278" y="685838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1e2bc6d316_0_250:notes"/>
          <p:cNvSpPr txBox="1"/>
          <p:nvPr>
            <p:ph idx="1" type="body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g31e2bc6d316_0_250:notes"/>
          <p:cNvSpPr/>
          <p:nvPr>
            <p:ph idx="2" type="sldImg"/>
          </p:nvPr>
        </p:nvSpPr>
        <p:spPr>
          <a:xfrm>
            <a:off x="91278" y="685838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1e2bc6d316_0_3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31e2bc6d316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1e2bc6d316_0_3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31e2bc6d316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1e2bc6d316_0_3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1e2bc6d316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1e2bc6d316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g31e2bc6d316_0_3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3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  <p:sp>
        <p:nvSpPr>
          <p:cNvPr id="11" name="Google Shape;11;p27"/>
          <p:cNvSpPr txBox="1"/>
          <p:nvPr/>
        </p:nvSpPr>
        <p:spPr>
          <a:xfrm>
            <a:off x="5781675" y="63500"/>
            <a:ext cx="66357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Restricted</a:t>
            </a:r>
            <a:endParaRPr/>
          </a:p>
        </p:txBody>
      </p:sp>
      <p:sp>
        <p:nvSpPr>
          <p:cNvPr id="12" name="Google Shape;12;p27"/>
          <p:cNvSpPr txBox="1"/>
          <p:nvPr/>
        </p:nvSpPr>
        <p:spPr>
          <a:xfrm>
            <a:off x="5781675" y="6611620"/>
            <a:ext cx="66357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Restricted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Relationship Id="rId5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5.png"/><Relationship Id="rId4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Relationship Id="rId4" Type="http://schemas.openxmlformats.org/officeDocument/2006/relationships/image" Target="../media/image28.png"/><Relationship Id="rId5" Type="http://schemas.openxmlformats.org/officeDocument/2006/relationships/image" Target="../media/image31.png"/><Relationship Id="rId6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png"/><Relationship Id="rId4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github.com/contiki-ng/contiki-ng/wiki/Toolchain-installation-on-Linux" TargetMode="External"/><Relationship Id="rId4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Relationship Id="rId4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png"/><Relationship Id="rId4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Relationship Id="rId4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6.png"/><Relationship Id="rId4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1.png"/><Relationship Id="rId4" Type="http://schemas.openxmlformats.org/officeDocument/2006/relationships/image" Target="../media/image2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4.png"/><Relationship Id="rId4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3.png"/><Relationship Id="rId4" Type="http://schemas.openxmlformats.org/officeDocument/2006/relationships/image" Target="../media/image41.png"/><Relationship Id="rId5" Type="http://schemas.openxmlformats.org/officeDocument/2006/relationships/image" Target="../media/image2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iot-lab.info/" TargetMode="External"/><Relationship Id="rId4" Type="http://schemas.openxmlformats.org/officeDocument/2006/relationships/image" Target="../media/image25.png"/><Relationship Id="rId5" Type="http://schemas.openxmlformats.org/officeDocument/2006/relationships/image" Target="../media/image2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8.png"/><Relationship Id="rId4" Type="http://schemas.openxmlformats.org/officeDocument/2006/relationships/image" Target="../media/image2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9.png"/><Relationship Id="rId4" Type="http://schemas.openxmlformats.org/officeDocument/2006/relationships/image" Target="../media/image2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0.png"/><Relationship Id="rId4" Type="http://schemas.openxmlformats.org/officeDocument/2006/relationships/image" Target="../media/image2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2.png"/><Relationship Id="rId4" Type="http://schemas.openxmlformats.org/officeDocument/2006/relationships/image" Target="../media/image2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.png"/><Relationship Id="rId4" Type="http://schemas.openxmlformats.org/officeDocument/2006/relationships/image" Target="../media/image4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2.png"/><Relationship Id="rId4" Type="http://schemas.openxmlformats.org/officeDocument/2006/relationships/image" Target="../media/image4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.png"/><Relationship Id="rId4" Type="http://schemas.openxmlformats.org/officeDocument/2006/relationships/image" Target="../media/image4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aerial view of a city&#10;&#10;Description automatically generated" id="87" name="Google Shape;87;p1"/>
          <p:cNvPicPr preferRelativeResize="0"/>
          <p:nvPr/>
        </p:nvPicPr>
        <p:blipFill rotWithShape="1">
          <a:blip r:embed="rId3">
            <a:alphaModFix/>
          </a:blip>
          <a:srcRect b="1" l="8756" r="13106" t="9091"/>
          <a:stretch/>
        </p:blipFill>
        <p:spPr>
          <a:xfrm>
            <a:off x="3523488" y="10"/>
            <a:ext cx="866851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8823"/>
                </a:srgbClr>
              </a:gs>
              <a:gs pos="5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>
            <p:ph type="ctrTitle"/>
          </p:nvPr>
        </p:nvSpPr>
        <p:spPr>
          <a:xfrm>
            <a:off x="477980" y="1122363"/>
            <a:ext cx="5618019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SG" sz="4400">
                <a:latin typeface="Arial"/>
                <a:ea typeface="Arial"/>
                <a:cs typeface="Arial"/>
                <a:sym typeface="Arial"/>
              </a:rPr>
              <a:t>How can we make resource-constrained IoT networks more efficient?</a:t>
            </a:r>
            <a:endParaRPr sz="4400"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477980" y="4872922"/>
            <a:ext cx="4023359" cy="1208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SG" sz="2000"/>
              <a:t>Dr. Alakesh Kalita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SG" sz="2000"/>
              <a:t>IIT (ISM) Dhanbad, India.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9525" y="4546925"/>
            <a:ext cx="1060557" cy="1208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-1" y="0"/>
            <a:ext cx="4818889" cy="6858000"/>
          </a:xfrm>
          <a:custGeom>
            <a:rect b="b" l="l" r="r" t="t"/>
            <a:pathLst>
              <a:path extrusionOk="0" h="6858000" w="4818889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l" dist="38100">
              <a:srgbClr val="D8D8D8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" y="0"/>
            <a:ext cx="4811477" cy="6858000"/>
          </a:xfrm>
          <a:custGeom>
            <a:rect b="b" l="l" r="r" t="t"/>
            <a:pathLst>
              <a:path extrusionOk="0" h="6858000" w="4811477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>
            <p:ph type="title"/>
          </p:nvPr>
        </p:nvSpPr>
        <p:spPr>
          <a:xfrm>
            <a:off x="621792" y="1161288"/>
            <a:ext cx="3602736" cy="452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SG" sz="4000"/>
              <a:t>What is Internet of Things?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2"/>
          <p:cNvGrpSpPr/>
          <p:nvPr/>
        </p:nvGrpSpPr>
        <p:grpSpPr>
          <a:xfrm>
            <a:off x="5071314" y="340622"/>
            <a:ext cx="6821425" cy="791505"/>
            <a:chOff x="0" y="240614"/>
            <a:chExt cx="6821425" cy="791505"/>
          </a:xfrm>
        </p:grpSpPr>
        <p:sp>
          <p:nvSpPr>
            <p:cNvPr id="104" name="Google Shape;104;p2"/>
            <p:cNvSpPr/>
            <p:nvPr/>
          </p:nvSpPr>
          <p:spPr>
            <a:xfrm>
              <a:off x="0" y="240614"/>
              <a:ext cx="6821425" cy="791505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38638" y="279252"/>
              <a:ext cx="6744149" cy="7142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725" lIns="125725" spcFirstLastPara="1" rIns="125725" wrap="square" tIns="12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alibri"/>
                <a:buNone/>
              </a:pPr>
              <a:r>
                <a:rPr b="0" i="0" lang="en-SG" sz="3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Things + Internet = Internet of Things</a:t>
              </a:r>
              <a:endParaRPr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2"/>
          <p:cNvGrpSpPr/>
          <p:nvPr/>
        </p:nvGrpSpPr>
        <p:grpSpPr>
          <a:xfrm>
            <a:off x="5071314" y="1370047"/>
            <a:ext cx="6821425" cy="791505"/>
            <a:chOff x="0" y="1127159"/>
            <a:chExt cx="6821425" cy="791505"/>
          </a:xfrm>
        </p:grpSpPr>
        <p:sp>
          <p:nvSpPr>
            <p:cNvPr id="107" name="Google Shape;107;p2"/>
            <p:cNvSpPr/>
            <p:nvPr/>
          </p:nvSpPr>
          <p:spPr>
            <a:xfrm>
              <a:off x="0" y="1127159"/>
              <a:ext cx="6821425" cy="791505"/>
            </a:xfrm>
            <a:prstGeom prst="roundRect">
              <a:avLst>
                <a:gd fmla="val 16667" name="adj"/>
              </a:avLst>
            </a:prstGeom>
            <a:solidFill>
              <a:srgbClr val="50C9B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38638" y="1165797"/>
              <a:ext cx="6744149" cy="7142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725" lIns="125725" spcFirstLastPara="1" rIns="125725" wrap="square" tIns="12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alibri"/>
                <a:buNone/>
              </a:pPr>
              <a:r>
                <a:rPr b="0" i="0" lang="en-SG" sz="3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“</a:t>
              </a:r>
              <a:r>
                <a:rPr b="0" i="1" lang="en-SG" sz="3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Things</a:t>
              </a:r>
              <a:r>
                <a:rPr b="0" i="0" lang="en-SG" sz="3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” can be </a:t>
              </a:r>
              <a:endParaRPr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5071314" y="2333006"/>
            <a:ext cx="6821425" cy="819720"/>
            <a:chOff x="0" y="1918664"/>
            <a:chExt cx="6821425" cy="819720"/>
          </a:xfrm>
        </p:grpSpPr>
        <p:sp>
          <p:nvSpPr>
            <p:cNvPr id="110" name="Google Shape;110;p2"/>
            <p:cNvSpPr/>
            <p:nvPr/>
          </p:nvSpPr>
          <p:spPr>
            <a:xfrm>
              <a:off x="0" y="1918664"/>
              <a:ext cx="6821425" cy="819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0" y="1918664"/>
              <a:ext cx="6821425" cy="819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900" lIns="216575" spcFirstLastPara="1" rIns="234675" wrap="square" tIns="419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SG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TV, Fridge, Camera, almost every physical thing in the world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5071314" y="3181304"/>
            <a:ext cx="6821425" cy="791505"/>
            <a:chOff x="0" y="2738384"/>
            <a:chExt cx="6821425" cy="791505"/>
          </a:xfrm>
        </p:grpSpPr>
        <p:sp>
          <p:nvSpPr>
            <p:cNvPr id="113" name="Google Shape;113;p2"/>
            <p:cNvSpPr/>
            <p:nvPr/>
          </p:nvSpPr>
          <p:spPr>
            <a:xfrm>
              <a:off x="0" y="2738384"/>
              <a:ext cx="6821425" cy="791505"/>
            </a:xfrm>
            <a:prstGeom prst="roundRect">
              <a:avLst>
                <a:gd fmla="val 16667" name="adj"/>
              </a:avLst>
            </a:prstGeom>
            <a:solidFill>
              <a:srgbClr val="48BD6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38638" y="2777022"/>
              <a:ext cx="6744149" cy="7142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725" lIns="125725" spcFirstLastPara="1" rIns="125725" wrap="square" tIns="12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alibri"/>
                <a:buNone/>
              </a:pPr>
              <a:r>
                <a:rPr b="0" i="0" lang="en-SG" sz="3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To be a </a:t>
              </a:r>
              <a:r>
                <a:rPr b="0" i="1" lang="en-SG" sz="3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thing</a:t>
              </a:r>
              <a:r>
                <a:rPr b="0" i="0" lang="en-SG" sz="3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  an entity should </a:t>
              </a:r>
              <a:endParaRPr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5071314" y="4001383"/>
            <a:ext cx="6821425" cy="1810215"/>
            <a:chOff x="0" y="3529889"/>
            <a:chExt cx="6821425" cy="1810215"/>
          </a:xfrm>
        </p:grpSpPr>
        <p:sp>
          <p:nvSpPr>
            <p:cNvPr id="116" name="Google Shape;116;p2"/>
            <p:cNvSpPr/>
            <p:nvPr/>
          </p:nvSpPr>
          <p:spPr>
            <a:xfrm>
              <a:off x="0" y="3529889"/>
              <a:ext cx="6821425" cy="1810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3529889"/>
              <a:ext cx="6821425" cy="1810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900" lIns="216575" spcFirstLastPara="1" rIns="234675" wrap="square" tIns="419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SG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Have the </a:t>
              </a:r>
              <a:r>
                <a:rPr b="0" i="0" lang="en-SG" sz="26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sensing</a:t>
              </a:r>
              <a:r>
                <a:rPr b="0" i="0" lang="en-SG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capacity 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SG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by itself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SG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adding external sensors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SG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Sometimes, works as </a:t>
              </a:r>
              <a:r>
                <a:rPr b="0" i="0" lang="en-SG" sz="26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actuator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5071314" y="5768736"/>
            <a:ext cx="6821425" cy="791505"/>
            <a:chOff x="0" y="5340104"/>
            <a:chExt cx="6821425" cy="791505"/>
          </a:xfrm>
        </p:grpSpPr>
        <p:sp>
          <p:nvSpPr>
            <p:cNvPr id="119" name="Google Shape;119;p2"/>
            <p:cNvSpPr/>
            <p:nvPr/>
          </p:nvSpPr>
          <p:spPr>
            <a:xfrm>
              <a:off x="0" y="5340104"/>
              <a:ext cx="6821425" cy="791505"/>
            </a:xfrm>
            <a:prstGeom prst="roundRect">
              <a:avLst>
                <a:gd fmla="val 16667" name="adj"/>
              </a:avLst>
            </a:prstGeom>
            <a:solidFill>
              <a:srgbClr val="833C0B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38638" y="5378742"/>
              <a:ext cx="6744149" cy="7142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725" lIns="125725" spcFirstLastPara="1" rIns="125725" wrap="square" tIns="12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alibri"/>
                <a:buNone/>
              </a:pPr>
              <a:r>
                <a:rPr b="0" i="0" lang="en-SG" sz="3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Communication </a:t>
              </a:r>
              <a:endParaRPr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5718" y="1569681"/>
            <a:ext cx="5319062" cy="36435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26;p3"/>
          <p:cNvGrpSpPr/>
          <p:nvPr/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27" name="Google Shape;127;p3"/>
            <p:cNvSpPr/>
            <p:nvPr/>
          </p:nvSpPr>
          <p:spPr>
            <a:xfrm flipH="1" rot="5400000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 rot="-54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0">
                  <a:srgbClr val="5B9BD5">
                    <a:alpha val="0"/>
                  </a:srgbClr>
                </a:gs>
                <a:gs pos="19000">
                  <a:srgbClr val="5B9BD5">
                    <a:alpha val="0"/>
                  </a:srgbClr>
                </a:gs>
                <a:gs pos="100000">
                  <a:srgbClr val="9CC2E5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3"/>
          <p:cNvSpPr txBox="1"/>
          <p:nvPr/>
        </p:nvSpPr>
        <p:spPr>
          <a:xfrm>
            <a:off x="3050381" y="3244334"/>
            <a:ext cx="61007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3050381" y="3244334"/>
            <a:ext cx="61007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0" y="211151"/>
            <a:ext cx="610076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3200" u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Basic layers of IoT architecture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3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33" name="Google Shape;13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"/>
          <p:cNvPicPr preferRelativeResize="0"/>
          <p:nvPr/>
        </p:nvPicPr>
        <p:blipFill rotWithShape="1">
          <a:blip r:embed="rId5">
            <a:alphaModFix/>
          </a:blip>
          <a:srcRect b="0" l="0" r="0" t="66437"/>
          <a:stretch/>
        </p:blipFill>
        <p:spPr>
          <a:xfrm>
            <a:off x="1135200" y="3995302"/>
            <a:ext cx="5208425" cy="11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3"/>
          <p:cNvPicPr preferRelativeResize="0"/>
          <p:nvPr/>
        </p:nvPicPr>
        <p:blipFill rotWithShape="1">
          <a:blip r:embed="rId5">
            <a:alphaModFix/>
          </a:blip>
          <a:srcRect b="31339" l="0" r="0" t="33538"/>
          <a:stretch/>
        </p:blipFill>
        <p:spPr>
          <a:xfrm>
            <a:off x="1135200" y="2784888"/>
            <a:ext cx="5208425" cy="121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"/>
          <p:cNvPicPr preferRelativeResize="0"/>
          <p:nvPr/>
        </p:nvPicPr>
        <p:blipFill rotWithShape="1">
          <a:blip r:embed="rId5">
            <a:alphaModFix/>
          </a:blip>
          <a:srcRect b="66437" l="0" r="0" t="0"/>
          <a:stretch/>
        </p:blipFill>
        <p:spPr>
          <a:xfrm>
            <a:off x="1135200" y="1564051"/>
            <a:ext cx="5208425" cy="11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/>
          <p:nvPr/>
        </p:nvSpPr>
        <p:spPr>
          <a:xfrm rot="-5400000">
            <a:off x="800100" y="1491343"/>
            <a:ext cx="3333749" cy="3499103"/>
          </a:xfrm>
          <a:prstGeom prst="downArrow">
            <a:avLst>
              <a:gd fmla="val 100000" name="adj1"/>
              <a:gd fmla="val 15788" name="adj2"/>
            </a:avLst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717421" y="1967266"/>
            <a:ext cx="3154491" cy="25472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36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Communication technologies</a:t>
            </a:r>
            <a:endParaRPr b="0"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7316" y="1469909"/>
            <a:ext cx="6780700" cy="391585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"/>
          <p:cNvSpPr/>
          <p:nvPr/>
        </p:nvSpPr>
        <p:spPr>
          <a:xfrm>
            <a:off x="4243391" y="1295677"/>
            <a:ext cx="3499105" cy="23178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Communication Criteria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Communication Range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Frequency band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Consumption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Topology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Device type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-1" y="211151"/>
            <a:ext cx="762952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3200" u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Different communication technologies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8167666" y="5298383"/>
            <a:ext cx="14430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6TiSCH</a:t>
            </a:r>
            <a:endParaRPr/>
          </a:p>
        </p:txBody>
      </p:sp>
      <p:cxnSp>
        <p:nvCxnSpPr>
          <p:cNvPr id="147" name="Google Shape;147;p4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8" name="Google Shape;14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643467" y="1069420"/>
            <a:ext cx="7332877" cy="180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Devices are </a:t>
            </a:r>
            <a:r>
              <a:rPr lang="en-SG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resource-constrained,</a:t>
            </a:r>
            <a:endParaRPr/>
          </a:p>
          <a:p>
            <a:pPr indent="-280035" lvl="1" marL="728091" marR="0" rtl="0" algn="l">
              <a:spcBef>
                <a:spcPts val="600"/>
              </a:spcBef>
              <a:spcAft>
                <a:spcPts val="0"/>
              </a:spcAft>
              <a:buClr>
                <a:srgbClr val="1453A3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1453A3"/>
                </a:solidFill>
                <a:latin typeface="Arial"/>
                <a:ea typeface="Arial"/>
                <a:cs typeface="Arial"/>
                <a:sym typeface="Arial"/>
              </a:rPr>
              <a:t>Processing capacity, (RAM in KBs)</a:t>
            </a:r>
            <a:endParaRPr/>
          </a:p>
          <a:p>
            <a:pPr indent="-280035" lvl="1" marL="728091" marR="0" rtl="0" algn="l">
              <a:spcBef>
                <a:spcPts val="600"/>
              </a:spcBef>
              <a:spcAft>
                <a:spcPts val="0"/>
              </a:spcAft>
              <a:buClr>
                <a:srgbClr val="1453A3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1453A3"/>
                </a:solidFill>
                <a:latin typeface="Arial"/>
                <a:ea typeface="Arial"/>
                <a:cs typeface="Arial"/>
                <a:sym typeface="Arial"/>
              </a:rPr>
              <a:t>Memory (in KBs), and</a:t>
            </a:r>
            <a:endParaRPr/>
          </a:p>
          <a:p>
            <a:pPr indent="-280035" lvl="1" marL="728091" marR="0" rtl="0" algn="l">
              <a:spcBef>
                <a:spcPts val="600"/>
              </a:spcBef>
              <a:spcAft>
                <a:spcPts val="0"/>
              </a:spcAft>
              <a:buClr>
                <a:srgbClr val="1453A3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1453A3"/>
                </a:solidFill>
                <a:latin typeface="Arial"/>
                <a:ea typeface="Arial"/>
                <a:cs typeface="Arial"/>
                <a:sym typeface="Arial"/>
              </a:rPr>
              <a:t>Energy (small battery).</a:t>
            </a:r>
            <a:endParaRPr b="0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643467" y="3754339"/>
            <a:ext cx="9088695" cy="2616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Requirements of </a:t>
            </a:r>
            <a:r>
              <a:rPr lang="en-SG" sz="2400">
                <a:solidFill>
                  <a:srgbClr val="B30000"/>
                </a:solidFill>
                <a:latin typeface="Arial"/>
                <a:ea typeface="Arial"/>
                <a:cs typeface="Arial"/>
                <a:sym typeface="Arial"/>
              </a:rPr>
              <a:t>critical IoT applications</a:t>
            </a:r>
            <a:r>
              <a:rPr lang="en-SG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such as </a:t>
            </a:r>
            <a:r>
              <a:rPr lang="en-SG" sz="2400">
                <a:solidFill>
                  <a:srgbClr val="005993"/>
                </a:solidFill>
                <a:latin typeface="Arial"/>
                <a:ea typeface="Arial"/>
                <a:cs typeface="Arial"/>
                <a:sym typeface="Arial"/>
              </a:rPr>
              <a:t>smart healthcare, fire safety, etc.,</a:t>
            </a:r>
            <a:r>
              <a:rPr lang="en-SG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-280035" lvl="1" marL="728091" marR="0" rtl="0" algn="l">
              <a:spcBef>
                <a:spcPts val="600"/>
              </a:spcBef>
              <a:spcAft>
                <a:spcPts val="0"/>
              </a:spcAft>
              <a:buClr>
                <a:srgbClr val="1453A3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1453A3"/>
                </a:solidFill>
                <a:latin typeface="Arial"/>
                <a:ea typeface="Arial"/>
                <a:cs typeface="Arial"/>
                <a:sym typeface="Arial"/>
              </a:rPr>
              <a:t>Bounded latency,</a:t>
            </a:r>
            <a:endParaRPr/>
          </a:p>
          <a:p>
            <a:pPr indent="-280035" lvl="1" marL="728091" marR="0" rtl="0" algn="l">
              <a:spcBef>
                <a:spcPts val="600"/>
              </a:spcBef>
              <a:spcAft>
                <a:spcPts val="0"/>
              </a:spcAft>
              <a:buClr>
                <a:srgbClr val="1453A3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1453A3"/>
                </a:solidFill>
                <a:latin typeface="Arial"/>
                <a:ea typeface="Arial"/>
                <a:cs typeface="Arial"/>
                <a:sym typeface="Arial"/>
              </a:rPr>
              <a:t>Reliability,</a:t>
            </a:r>
            <a:endParaRPr/>
          </a:p>
          <a:p>
            <a:pPr indent="-280035" lvl="1" marL="728091" marR="0" rtl="0" algn="l">
              <a:spcBef>
                <a:spcPts val="600"/>
              </a:spcBef>
              <a:spcAft>
                <a:spcPts val="0"/>
              </a:spcAft>
              <a:buClr>
                <a:srgbClr val="1453A3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1453A3"/>
                </a:solidFill>
                <a:latin typeface="Arial"/>
                <a:ea typeface="Arial"/>
                <a:cs typeface="Arial"/>
                <a:sym typeface="Arial"/>
              </a:rPr>
              <a:t>Scalability, and</a:t>
            </a:r>
            <a:endParaRPr/>
          </a:p>
          <a:p>
            <a:pPr indent="-280035" lvl="1" marL="728091" marR="0" rtl="0" algn="l">
              <a:spcBef>
                <a:spcPts val="600"/>
              </a:spcBef>
              <a:spcAft>
                <a:spcPts val="0"/>
              </a:spcAft>
              <a:buClr>
                <a:srgbClr val="1453A3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1453A3"/>
                </a:solidFill>
                <a:latin typeface="Arial"/>
                <a:ea typeface="Arial"/>
                <a:cs typeface="Arial"/>
                <a:sym typeface="Arial"/>
              </a:rPr>
              <a:t>Energy efficiency</a:t>
            </a:r>
            <a:endParaRPr b="0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encil and a piece of electronic equipment&#10;&#10;Description automatically generated" id="162" name="Google Shape;1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0857" y="1056054"/>
            <a:ext cx="3868275" cy="2047607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 txBox="1"/>
          <p:nvPr/>
        </p:nvSpPr>
        <p:spPr>
          <a:xfrm>
            <a:off x="8455987" y="3174819"/>
            <a:ext cx="3138013" cy="363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7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Fig: TI CC2650 SensorTag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5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5" name="Google Shape;165;p5"/>
          <p:cNvSpPr txBox="1"/>
          <p:nvPr/>
        </p:nvSpPr>
        <p:spPr>
          <a:xfrm>
            <a:off x="-1" y="211151"/>
            <a:ext cx="809085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3200" u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Device type and Application requirements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/>
          <p:nvPr/>
        </p:nvSpPr>
        <p:spPr>
          <a:xfrm>
            <a:off x="255981" y="1685186"/>
            <a:ext cx="1168003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2400" u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IEEE 802.15.4</a:t>
            </a:r>
            <a:r>
              <a:rPr b="0" i="0" lang="en-SG" sz="2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(2003) </a:t>
            </a:r>
            <a:r>
              <a:rPr b="0" i="0" lang="en-SG" sz="240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fails</a:t>
            </a:r>
            <a:r>
              <a:rPr b="0" i="0" lang="en-SG" sz="2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to provide the demands of critical application, because of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Usage of </a:t>
            </a:r>
            <a:r>
              <a:rPr b="0" i="0" lang="en-SG" sz="2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CSMA/CA</a:t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Single channel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255981" y="3429000"/>
            <a:ext cx="1168003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2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As a result, </a:t>
            </a:r>
            <a:r>
              <a:rPr b="0" i="0" lang="en-SG" sz="240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IEEE 802.15.4e </a:t>
            </a:r>
            <a:r>
              <a:rPr b="0" i="0" lang="en-SG" sz="2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was released in 2008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b="0" i="0" lang="en-SG" sz="2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re-design</a:t>
            </a:r>
            <a:r>
              <a:rPr b="0" i="0" lang="en-SG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the existing IEEE 802.15.4 MAC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It introduces </a:t>
            </a:r>
            <a:r>
              <a:rPr b="0" i="0" lang="en-SG" sz="2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five new MAC behaviour</a:t>
            </a:r>
            <a:r>
              <a:rPr b="0" i="0" lang="en-SG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modes to support different applications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One of these MAC behaviour modes is </a:t>
            </a:r>
            <a:r>
              <a:rPr b="0" i="0" lang="en-SG" sz="2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Time Slotted Channel Hopping (TSCH)</a:t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255981" y="5426973"/>
            <a:ext cx="1168003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2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IETF created </a:t>
            </a:r>
            <a:r>
              <a:rPr b="0" i="0" lang="en-SG" sz="2400" u="none" strike="noStrike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6TiSCH working group (WG)</a:t>
            </a:r>
            <a:r>
              <a:rPr b="0" i="0" lang="en-SG" sz="2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in 2012 to provide 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Interoperability </a:t>
            </a:r>
            <a:r>
              <a:rPr b="0" i="0" lang="en-SG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between I</a:t>
            </a:r>
            <a:r>
              <a:rPr b="0" i="0" lang="en-SG" sz="2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EEE 802.15.4e TSCH</a:t>
            </a:r>
            <a:r>
              <a:rPr b="0" i="0" lang="en-SG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SG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existing </a:t>
            </a:r>
            <a:r>
              <a:rPr b="0" i="0" lang="en-SG" sz="2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IPv6 protocol stack </a:t>
            </a:r>
            <a:r>
              <a:rPr b="0" i="0" lang="en-SG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SG" sz="2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 LLNs</a:t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255981" y="207115"/>
            <a:ext cx="920115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3200" u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IEEE 802.15.4 (ZigBee) Vs 6TiSCH Networks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6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6" name="Google Shape;17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" name="Google Shape;182;p7"/>
          <p:cNvGrpSpPr/>
          <p:nvPr/>
        </p:nvGrpSpPr>
        <p:grpSpPr>
          <a:xfrm flipH="1">
            <a:off x="10741136" y="-454724"/>
            <a:ext cx="2323655" cy="2323656"/>
            <a:chOff x="-872270" y="-454724"/>
            <a:chExt cx="2323655" cy="2323656"/>
          </a:xfrm>
        </p:grpSpPr>
        <p:sp>
          <p:nvSpPr>
            <p:cNvPr id="183" name="Google Shape;183;p7"/>
            <p:cNvSpPr/>
            <p:nvPr/>
          </p:nvSpPr>
          <p:spPr>
            <a:xfrm rot="2700000">
              <a:off x="-415188" y="-231223"/>
              <a:ext cx="1409491" cy="1876653"/>
            </a:xfrm>
            <a:custGeom>
              <a:rect b="b" l="l" r="r" t="t"/>
              <a:pathLst>
                <a:path extrusionOk="0" h="1876653" w="1409491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7"/>
          <p:cNvSpPr/>
          <p:nvPr/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343436" y="5721108"/>
            <a:ext cx="2261965" cy="1136891"/>
          </a:xfrm>
          <a:prstGeom prst="triangle">
            <a:avLst>
              <a:gd fmla="val 50000" name="adj"/>
            </a:avLst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643467" y="1468232"/>
            <a:ext cx="5763069" cy="1711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256">
                <a:solidFill>
                  <a:srgbClr val="B30000"/>
                </a:solidFill>
                <a:latin typeface="Arial"/>
                <a:ea typeface="Arial"/>
                <a:cs typeface="Arial"/>
                <a:sym typeface="Arial"/>
              </a:rPr>
              <a:t>Topology Independent</a:t>
            </a:r>
            <a:endParaRPr/>
          </a:p>
          <a:p>
            <a:pPr indent="-268605" lvl="1" marL="698373" marR="0" rtl="0" algn="l"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256"/>
              <a:buFont typeface="Arial"/>
              <a:buChar char="•"/>
            </a:pPr>
            <a:r>
              <a:rPr b="0" i="0" lang="en-SG" sz="2256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Work with </a:t>
            </a:r>
            <a:r>
              <a:rPr b="0" i="0" lang="en-SG" sz="2256" u="none" cap="none" strike="noStrike">
                <a:solidFill>
                  <a:srgbClr val="0052BA"/>
                </a:solidFill>
                <a:latin typeface="Arial"/>
                <a:ea typeface="Arial"/>
                <a:cs typeface="Arial"/>
                <a:sym typeface="Arial"/>
              </a:rPr>
              <a:t>any network topology </a:t>
            </a:r>
            <a:endParaRPr b="0" i="0" sz="2256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8605" lvl="1" marL="698373" marR="0" rtl="0" algn="l"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256"/>
              <a:buFont typeface="Arial"/>
              <a:buChar char="•"/>
            </a:pPr>
            <a:r>
              <a:rPr b="0" i="0" lang="en-SG" sz="2256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Star, Mesh, Bus</a:t>
            </a:r>
            <a:endParaRPr b="0" i="0" sz="2256" u="none" cap="none" strike="noStrike">
              <a:solidFill>
                <a:srgbClr val="0052B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8605" lvl="1" marL="698373" marR="0" rtl="0" algn="l"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256"/>
              <a:buFont typeface="Arial"/>
              <a:buChar char="•"/>
            </a:pPr>
            <a:r>
              <a:rPr b="0" i="0" lang="en-SG" sz="2256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One hop and Multi hop</a:t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643467" y="3906991"/>
            <a:ext cx="5763069" cy="1634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256">
                <a:solidFill>
                  <a:srgbClr val="B20000"/>
                </a:solidFill>
                <a:latin typeface="Arial"/>
                <a:ea typeface="Arial"/>
                <a:cs typeface="Arial"/>
                <a:sym typeface="Arial"/>
              </a:rPr>
              <a:t>Time Slotted Channel Access (TSCH)</a:t>
            </a:r>
            <a:endParaRPr/>
          </a:p>
          <a:p>
            <a:pPr indent="-268605" lvl="1" marL="698373" marR="0" rtl="0" algn="l"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256"/>
              <a:buFont typeface="Arial"/>
              <a:buChar char="•"/>
            </a:pPr>
            <a:r>
              <a:rPr b="0" i="0" lang="en-SG" sz="2256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Increase </a:t>
            </a:r>
            <a:r>
              <a:rPr b="0" i="0" lang="en-SG" sz="2256" u="none" cap="none" strike="noStrike">
                <a:solidFill>
                  <a:srgbClr val="0052BA"/>
                </a:solidFill>
                <a:latin typeface="Arial"/>
                <a:ea typeface="Arial"/>
                <a:cs typeface="Arial"/>
                <a:sym typeface="Arial"/>
              </a:rPr>
              <a:t>throughput</a:t>
            </a:r>
            <a:r>
              <a:rPr b="0" i="0" lang="en-SG" sz="2256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by eliminating collision among competing nodes</a:t>
            </a:r>
            <a:endParaRPr/>
          </a:p>
          <a:p>
            <a:pPr indent="-268605" lvl="1" marL="698373" marR="0" rtl="0" algn="l">
              <a:spcBef>
                <a:spcPts val="600"/>
              </a:spcBef>
              <a:spcAft>
                <a:spcPts val="0"/>
              </a:spcAft>
              <a:buClr>
                <a:srgbClr val="0052BA"/>
              </a:buClr>
              <a:buSzPts val="2256"/>
              <a:buFont typeface="Arial"/>
              <a:buChar char="•"/>
            </a:pPr>
            <a:r>
              <a:rPr b="0" i="0" lang="en-SG" sz="2256" u="none" cap="none" strike="noStrike">
                <a:solidFill>
                  <a:srgbClr val="0052BA"/>
                </a:solidFill>
                <a:latin typeface="Arial"/>
                <a:ea typeface="Arial"/>
                <a:cs typeface="Arial"/>
                <a:sym typeface="Arial"/>
              </a:rPr>
              <a:t>Predictable</a:t>
            </a:r>
            <a:r>
              <a:rPr b="0" i="0" lang="en-SG" sz="2256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SG" sz="2256" u="none" cap="none" strike="noStrike">
                <a:solidFill>
                  <a:srgbClr val="0052BA"/>
                </a:solidFill>
                <a:latin typeface="Arial"/>
                <a:ea typeface="Arial"/>
                <a:cs typeface="Arial"/>
                <a:sym typeface="Arial"/>
              </a:rPr>
              <a:t>bounded latency</a:t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737599"/>
            <a:ext cx="5685363" cy="361177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 txBox="1"/>
          <p:nvPr/>
        </p:nvSpPr>
        <p:spPr>
          <a:xfrm>
            <a:off x="464344" y="217046"/>
            <a:ext cx="920115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3200" u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6TiSCH Networks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7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2" name="Google Shape;192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 txBox="1"/>
          <p:nvPr/>
        </p:nvSpPr>
        <p:spPr>
          <a:xfrm>
            <a:off x="250031" y="979312"/>
            <a:ext cx="610076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240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Multi-channel</a:t>
            </a:r>
            <a:r>
              <a:rPr b="0" i="0" lang="en-SG" sz="24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communication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Many nodes can </a:t>
            </a:r>
            <a:r>
              <a:rPr b="0" i="0" lang="en-SG" sz="2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exchange</a:t>
            </a:r>
            <a:r>
              <a:rPr b="0" i="0" lang="en-SG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their frames </a:t>
            </a:r>
            <a:r>
              <a:rPr b="0" i="0" lang="en-SG" sz="2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at the same time</a:t>
            </a:r>
            <a:endParaRPr/>
          </a:p>
          <a:p>
            <a:pPr indent="-1333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Increases network capacity</a:t>
            </a:r>
            <a:endParaRPr/>
          </a:p>
        </p:txBody>
      </p:sp>
      <p:pic>
        <p:nvPicPr>
          <p:cNvPr id="198" name="Google Shape;19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1487" y="869268"/>
            <a:ext cx="4308475" cy="21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8"/>
          <p:cNvSpPr txBox="1"/>
          <p:nvPr/>
        </p:nvSpPr>
        <p:spPr>
          <a:xfrm>
            <a:off x="250031" y="3841194"/>
            <a:ext cx="610076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240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Channel Hopping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Mitigates the problems of </a:t>
            </a:r>
            <a:r>
              <a:rPr b="0" i="0" lang="en-SG" sz="2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interference</a:t>
            </a:r>
            <a:r>
              <a:rPr b="0" i="0" lang="en-SG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SG" sz="2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multipath </a:t>
            </a:r>
            <a:r>
              <a:rPr b="0" i="0" lang="en-SG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fading</a:t>
            </a:r>
            <a:endParaRPr/>
          </a:p>
          <a:p>
            <a:pPr indent="-1333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Improve reliability</a:t>
            </a:r>
            <a:endParaRPr/>
          </a:p>
        </p:txBody>
      </p:sp>
      <p:pic>
        <p:nvPicPr>
          <p:cNvPr id="200" name="Google Shape;20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7154" y="3656528"/>
            <a:ext cx="5414815" cy="26776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8"/>
          <p:cNvCxnSpPr/>
          <p:nvPr/>
        </p:nvCxnSpPr>
        <p:spPr>
          <a:xfrm>
            <a:off x="0" y="900110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2" name="Google Shape;202;p8"/>
          <p:cNvSpPr txBox="1"/>
          <p:nvPr/>
        </p:nvSpPr>
        <p:spPr>
          <a:xfrm>
            <a:off x="385762" y="223419"/>
            <a:ext cx="762952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3200" u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Cont.…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58275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0" y="0"/>
            <a:ext cx="1983504" cy="6858000"/>
          </a:xfrm>
          <a:custGeom>
            <a:rect b="b" l="l" r="r" t="t"/>
            <a:pathLst>
              <a:path extrusionOk="0" h="6858000" w="1983504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l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1788923" y="2428133"/>
            <a:ext cx="4511462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160">
                <a:solidFill>
                  <a:srgbClr val="0018C0"/>
                </a:solidFill>
                <a:latin typeface="Arial"/>
                <a:ea typeface="Arial"/>
                <a:cs typeface="Arial"/>
                <a:sym typeface="Arial"/>
              </a:rPr>
              <a:t>Upper Layer: IPv6 connectivity</a:t>
            </a:r>
            <a:endParaRPr/>
          </a:p>
          <a:p>
            <a:pPr indent="-308610" lvl="1" marL="802386" marR="0" rtl="0" algn="l">
              <a:spcBef>
                <a:spcPts val="0"/>
              </a:spcBef>
              <a:spcAft>
                <a:spcPts val="0"/>
              </a:spcAft>
              <a:buClr>
                <a:srgbClr val="0018C0"/>
              </a:buClr>
              <a:buSzPts val="2160"/>
              <a:buFont typeface="Arial"/>
              <a:buChar char="•"/>
            </a:pPr>
            <a:r>
              <a:rPr b="0" i="0" lang="en-SG" sz="2160" u="none" cap="none" strike="noStrike">
                <a:solidFill>
                  <a:srgbClr val="0018C0"/>
                </a:solidFill>
                <a:latin typeface="Arial"/>
                <a:ea typeface="Arial"/>
                <a:cs typeface="Arial"/>
                <a:sym typeface="Arial"/>
              </a:rPr>
              <a:t>6LoWPAN (RFC 8138), CoAP (RFC 7252), RPL (RFC 6550)</a:t>
            </a:r>
            <a:endParaRPr b="0" i="0" sz="2000" u="none" cap="none" strike="noStrike">
              <a:solidFill>
                <a:srgbClr val="0018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1788923" y="4136548"/>
            <a:ext cx="5734126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160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6TiSCH Layer</a:t>
            </a:r>
            <a:endParaRPr/>
          </a:p>
          <a:p>
            <a:pPr indent="-308610" lvl="1" marL="802386" marR="0" rtl="0" algn="l">
              <a:spcBef>
                <a:spcPts val="0"/>
              </a:spcBef>
              <a:spcAft>
                <a:spcPts val="0"/>
              </a:spcAft>
              <a:buClr>
                <a:srgbClr val="FB0007"/>
              </a:buClr>
              <a:buSzPts val="2160"/>
              <a:buFont typeface="Arial"/>
              <a:buChar char="•"/>
            </a:pPr>
            <a:r>
              <a:rPr b="0" i="0" lang="en-SG" sz="2160" u="none" cap="none" strike="noStrike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RFC 8180, 6top (RFC 8480)</a:t>
            </a:r>
            <a:endParaRPr b="0" i="0" sz="2000" u="none" cap="none" strike="noStrike">
              <a:solidFill>
                <a:srgbClr val="FB000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1788923" y="5328251"/>
            <a:ext cx="6631304" cy="7694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160">
                <a:solidFill>
                  <a:srgbClr val="FDB409"/>
                </a:solidFill>
                <a:latin typeface="Arial"/>
                <a:ea typeface="Arial"/>
                <a:cs typeface="Arial"/>
                <a:sym typeface="Arial"/>
              </a:rPr>
              <a:t>Bottom Layer: IEEE 802.15.4e, 2015</a:t>
            </a:r>
            <a:endParaRPr/>
          </a:p>
          <a:p>
            <a:pPr indent="-308610" lvl="1" marL="802386" marR="0" rtl="0" algn="l">
              <a:spcBef>
                <a:spcPts val="0"/>
              </a:spcBef>
              <a:spcAft>
                <a:spcPts val="0"/>
              </a:spcAft>
              <a:buClr>
                <a:srgbClr val="FDB409"/>
              </a:buClr>
              <a:buSzPts val="2160"/>
              <a:buFont typeface="Arial"/>
              <a:buChar char="•"/>
            </a:pPr>
            <a:r>
              <a:rPr b="0" i="0" lang="en-SG" sz="2160" u="none" cap="none" strike="noStrike">
                <a:solidFill>
                  <a:srgbClr val="FDB409"/>
                </a:solidFill>
                <a:latin typeface="Arial"/>
                <a:ea typeface="Arial"/>
                <a:cs typeface="Arial"/>
                <a:sym typeface="Arial"/>
              </a:rPr>
              <a:t>TSCH (MAC mode)</a:t>
            </a:r>
            <a:endParaRPr b="0" i="0" sz="2000" u="none" cap="none" strike="noStrike">
              <a:solidFill>
                <a:srgbClr val="FDB40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3049" y="1785932"/>
            <a:ext cx="3080701" cy="4268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3049" y="1760519"/>
            <a:ext cx="3080701" cy="4287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3049" y="1765529"/>
            <a:ext cx="3132498" cy="438793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 txBox="1"/>
          <p:nvPr/>
        </p:nvSpPr>
        <p:spPr>
          <a:xfrm>
            <a:off x="199623" y="310747"/>
            <a:ext cx="610076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3200" u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6TiSCH Communication Stack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9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8" name="Google Shape;218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4" name="Google Shape;224;p10"/>
          <p:cNvGrpSpPr/>
          <p:nvPr/>
        </p:nvGrpSpPr>
        <p:grpSpPr>
          <a:xfrm flipH="1">
            <a:off x="10741136" y="-454724"/>
            <a:ext cx="2323655" cy="2323656"/>
            <a:chOff x="-872270" y="-454724"/>
            <a:chExt cx="2323655" cy="2323656"/>
          </a:xfrm>
        </p:grpSpPr>
        <p:sp>
          <p:nvSpPr>
            <p:cNvPr id="225" name="Google Shape;225;p10"/>
            <p:cNvSpPr/>
            <p:nvPr/>
          </p:nvSpPr>
          <p:spPr>
            <a:xfrm rot="2700000">
              <a:off x="-415188" y="-231223"/>
              <a:ext cx="1409491" cy="1876653"/>
            </a:xfrm>
            <a:custGeom>
              <a:rect b="b" l="l" r="r" t="t"/>
              <a:pathLst>
                <a:path extrusionOk="0" h="1876653" w="1409491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0"/>
            <p:cNvSpPr/>
            <p:nvPr/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0"/>
          <p:cNvSpPr/>
          <p:nvPr/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1343436" y="5721108"/>
            <a:ext cx="2261965" cy="1136891"/>
          </a:xfrm>
          <a:prstGeom prst="triangle">
            <a:avLst>
              <a:gd fmla="val 50000" name="adj"/>
            </a:avLst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diagram of a network gateway&#10;&#10;Description automatically generated" id="229" name="Google Shape;2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731" y="2106040"/>
            <a:ext cx="11647232" cy="264591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0"/>
          <p:cNvSpPr txBox="1"/>
          <p:nvPr/>
        </p:nvSpPr>
        <p:spPr>
          <a:xfrm>
            <a:off x="3816816" y="5206683"/>
            <a:ext cx="5627221" cy="363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7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Fig: A 6TiSCH network in connected to the Internet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10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2" name="Google Shape;232;p10"/>
          <p:cNvSpPr txBox="1"/>
          <p:nvPr/>
        </p:nvSpPr>
        <p:spPr>
          <a:xfrm>
            <a:off x="255731" y="233766"/>
            <a:ext cx="762952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6TiSCH Network 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 txBox="1"/>
          <p:nvPr/>
        </p:nvSpPr>
        <p:spPr>
          <a:xfrm>
            <a:off x="199622" y="310747"/>
            <a:ext cx="741561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3200" u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6TiSCH Network Formation Process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199622" y="1407810"/>
            <a:ext cx="717272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2000" u="none" strike="noStrike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Join Registrar/Coordinator </a:t>
            </a:r>
            <a:r>
              <a:rPr b="0" i="0" lang="en-SG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(JRC) starts the formation process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Enhanced Beacon (EB)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Routing Information (DIO)</a:t>
            </a:r>
            <a:endParaRPr/>
          </a:p>
        </p:txBody>
      </p:sp>
      <p:pic>
        <p:nvPicPr>
          <p:cNvPr id="240" name="Google Shape;240;p11"/>
          <p:cNvPicPr preferRelativeResize="0"/>
          <p:nvPr/>
        </p:nvPicPr>
        <p:blipFill rotWithShape="1">
          <a:blip r:embed="rId3">
            <a:alphaModFix/>
          </a:blip>
          <a:srcRect b="0" l="0" r="2102" t="0"/>
          <a:stretch/>
        </p:blipFill>
        <p:spPr>
          <a:xfrm>
            <a:off x="8074428" y="1018816"/>
            <a:ext cx="3469872" cy="471904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1"/>
          <p:cNvSpPr txBox="1"/>
          <p:nvPr/>
        </p:nvSpPr>
        <p:spPr>
          <a:xfrm>
            <a:off x="199622" y="2834373"/>
            <a:ext cx="717272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Pledge (new node) scans for EB on a random channel (</a:t>
            </a:r>
            <a:r>
              <a:rPr b="0" i="0" lang="en-SG" sz="2000" u="none" strike="noStrike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Radio Duty Cycle (RDC) 100%)</a:t>
            </a:r>
            <a:endParaRPr b="0" i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199622" y="3977461"/>
            <a:ext cx="701556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receiving an EB, pledge synchronized with the underlying TSCH network (</a:t>
            </a:r>
            <a:r>
              <a:rPr b="0" i="0" lang="en-SG" sz="2000" u="none" strike="noStrike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RDC ~1%)</a:t>
            </a:r>
            <a:endParaRPr b="0" i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4428" y="1243889"/>
            <a:ext cx="3469872" cy="437022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1"/>
          <p:cNvSpPr txBox="1"/>
          <p:nvPr/>
        </p:nvSpPr>
        <p:spPr>
          <a:xfrm>
            <a:off x="199622" y="5096247"/>
            <a:ext cx="701556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 wait for routing information carrying packet, DIO</a:t>
            </a:r>
            <a:endParaRPr b="0" i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45426" y="1174188"/>
            <a:ext cx="3698874" cy="4408297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1"/>
          <p:cNvSpPr txBox="1"/>
          <p:nvPr/>
        </p:nvSpPr>
        <p:spPr>
          <a:xfrm>
            <a:off x="199622" y="5945759"/>
            <a:ext cx="701556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Becomes a joined node after receiving DIO packet</a:t>
            </a:r>
            <a:endParaRPr b="0" i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29538" y="1142561"/>
            <a:ext cx="3814762" cy="49893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" name="Google Shape;248;p11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49" name="Google Shape;249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"/>
          <p:cNvSpPr txBox="1"/>
          <p:nvPr/>
        </p:nvSpPr>
        <p:spPr>
          <a:xfrm>
            <a:off x="199622" y="310747"/>
            <a:ext cx="741561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3200" u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Issues in 6TiSCH Network Formation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0325" y="1971676"/>
            <a:ext cx="52578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2"/>
          <p:cNvSpPr txBox="1"/>
          <p:nvPr/>
        </p:nvSpPr>
        <p:spPr>
          <a:xfrm>
            <a:off x="309563" y="2264428"/>
            <a:ext cx="6100762" cy="27315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2400" u="none" strike="noStrike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Channel hopping feature of TSCH</a:t>
            </a:r>
            <a:endParaRPr/>
          </a:p>
          <a:p>
            <a:pPr indent="-285750" lvl="1" marL="742950" marR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SG" sz="2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pledge</a:t>
            </a:r>
            <a:r>
              <a:rPr b="0" i="0" lang="en-SG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does </a:t>
            </a:r>
            <a:r>
              <a:rPr b="0" i="0" lang="en-SG" sz="2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not know</a:t>
            </a:r>
            <a:r>
              <a:rPr b="0" i="0" lang="en-SG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which </a:t>
            </a:r>
            <a:r>
              <a:rPr b="0" i="0" lang="en-SG" sz="2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r>
              <a:rPr b="0" i="0" lang="en-SG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transmission of control packets is happening</a:t>
            </a:r>
            <a:endParaRPr/>
          </a:p>
          <a:p>
            <a:pPr indent="0" lvl="0" marL="0" marR="0" rtl="0" algn="l">
              <a:spcBef>
                <a:spcPts val="1700"/>
              </a:spcBef>
              <a:spcAft>
                <a:spcPts val="0"/>
              </a:spcAft>
              <a:buNone/>
            </a:pPr>
            <a:br>
              <a:rPr b="0" lang="en-SG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" name="Google Shape;257;p12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58" name="Google Shape;258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"/>
          <p:cNvSpPr txBox="1"/>
          <p:nvPr/>
        </p:nvSpPr>
        <p:spPr>
          <a:xfrm>
            <a:off x="199622" y="310747"/>
            <a:ext cx="741561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3200" u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Issues in 6TiSCH Network Formation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3"/>
          <p:cNvSpPr txBox="1"/>
          <p:nvPr/>
        </p:nvSpPr>
        <p:spPr>
          <a:xfrm>
            <a:off x="199621" y="1232527"/>
            <a:ext cx="7515628" cy="1054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2000" u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Limited resource </a:t>
            </a:r>
            <a:r>
              <a:rPr b="0" i="0" lang="en-SG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allocated  for control packets </a:t>
            </a:r>
            <a:r>
              <a:rPr b="0" i="0" lang="en-SG" sz="2000" u="none" strike="noStrike">
                <a:solidFill>
                  <a:srgbClr val="FB0007"/>
                </a:solidFill>
                <a:latin typeface="Arial"/>
                <a:ea typeface="Arial"/>
                <a:cs typeface="Arial"/>
                <a:sym typeface="Arial"/>
              </a:rPr>
              <a:t>(RFC 8180) 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spcBef>
                <a:spcPts val="2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Only one shared cell in a slotframe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0838" y="1157946"/>
            <a:ext cx="34544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3"/>
          <p:cNvSpPr txBox="1"/>
          <p:nvPr/>
        </p:nvSpPr>
        <p:spPr>
          <a:xfrm>
            <a:off x="199621" y="3668072"/>
            <a:ext cx="62222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EB’s are transmitted frequently but DIOs are not.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3"/>
          <p:cNvSpPr txBox="1"/>
          <p:nvPr/>
        </p:nvSpPr>
        <p:spPr>
          <a:xfrm>
            <a:off x="199621" y="2830228"/>
            <a:ext cx="66298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 CSMA/CA to transmit control packet in shared cells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3"/>
          <p:cNvSpPr txBox="1"/>
          <p:nvPr/>
        </p:nvSpPr>
        <p:spPr>
          <a:xfrm>
            <a:off x="199621" y="4498544"/>
            <a:ext cx="68584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Underutilization of all the channel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iagram of a cell line&#10;&#10;Description automatically generated" id="269" name="Google Shape;26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5766" y="3401117"/>
            <a:ext cx="4209472" cy="2643157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3"/>
          <p:cNvSpPr/>
          <p:nvPr/>
        </p:nvSpPr>
        <p:spPr>
          <a:xfrm>
            <a:off x="7679185" y="3687123"/>
            <a:ext cx="370542" cy="119286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9346071" y="3668072"/>
            <a:ext cx="370542" cy="119286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 txBox="1"/>
          <p:nvPr/>
        </p:nvSpPr>
        <p:spPr>
          <a:xfrm>
            <a:off x="199621" y="5176201"/>
            <a:ext cx="622220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b="0" i="0" lang="en-SG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co-operation</a:t>
            </a:r>
            <a:r>
              <a:rPr b="0" i="0" lang="en-SG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among the nodes to transmit their control packets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 txBox="1"/>
          <p:nvPr/>
        </p:nvSpPr>
        <p:spPr>
          <a:xfrm>
            <a:off x="199621" y="6006673"/>
            <a:ext cx="62222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+++</a:t>
            </a:r>
            <a:endParaRPr/>
          </a:p>
        </p:txBody>
      </p:sp>
      <p:cxnSp>
        <p:nvCxnSpPr>
          <p:cNvPr id="274" name="Google Shape;274;p13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75" name="Google Shape;27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"/>
          <p:cNvSpPr txBox="1"/>
          <p:nvPr/>
        </p:nvSpPr>
        <p:spPr>
          <a:xfrm>
            <a:off x="199622" y="310747"/>
            <a:ext cx="888722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SG"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Impro</a:t>
            </a:r>
            <a:r>
              <a:rPr lang="en-SG"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ve the efficiency of 6TiSCH network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4"/>
          <p:cNvSpPr txBox="1"/>
          <p:nvPr/>
        </p:nvSpPr>
        <p:spPr>
          <a:xfrm>
            <a:off x="300039" y="1906177"/>
            <a:ext cx="11672886" cy="3901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2400" u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Faster formation of 6TiSCH network </a:t>
            </a:r>
            <a:r>
              <a:rPr b="1" i="0" lang="en-SG" sz="240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helps in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Increasing </a:t>
            </a:r>
            <a:r>
              <a:rPr b="0" i="0" lang="en-SG" sz="2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network lifetime</a:t>
            </a:r>
            <a:endParaRPr b="0" i="0" sz="2400" u="none" cap="none" strike="noStrike">
              <a:solidFill>
                <a:srgbClr val="424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Efficient </a:t>
            </a:r>
            <a:r>
              <a:rPr b="0" i="0" lang="en-SG" sz="24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data packet transmission</a:t>
            </a:r>
            <a:endParaRPr/>
          </a:p>
          <a:p>
            <a:pPr indent="-342900" lvl="2" marL="1257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Reliability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E.g., nodes deployment during rescue operation, a patient admitted in smart healthcare system</a:t>
            </a:r>
            <a:endParaRPr/>
          </a:p>
        </p:txBody>
      </p:sp>
      <p:cxnSp>
        <p:nvCxnSpPr>
          <p:cNvPr id="282" name="Google Shape;282;p14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83" name="Google Shape;28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/>
        </p:nvSpPr>
        <p:spPr>
          <a:xfrm>
            <a:off x="199622" y="310747"/>
            <a:ext cx="741561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Data transmission in</a:t>
            </a:r>
            <a:r>
              <a:rPr b="0" i="0" lang="en-SG" sz="3200" u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6TiSCH Network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iagram of a cell&#10;&#10;Description automatically generated" id="289" name="Google Shape;2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359" y="2859615"/>
            <a:ext cx="10420923" cy="3572888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5"/>
          <p:cNvSpPr txBox="1"/>
          <p:nvPr/>
        </p:nvSpPr>
        <p:spPr>
          <a:xfrm>
            <a:off x="199621" y="1380945"/>
            <a:ext cx="950159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24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The communicating nodes (</a:t>
            </a:r>
            <a:r>
              <a:rPr b="0" i="0" lang="en-SG" sz="2400" u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sender</a:t>
            </a:r>
            <a:r>
              <a:rPr b="0" i="0" lang="en-SG" sz="24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SG" sz="2400" u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receiver</a:t>
            </a:r>
            <a:r>
              <a:rPr b="0" i="0" lang="en-SG" sz="24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SG" sz="240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must schedule cells </a:t>
            </a:r>
            <a:r>
              <a:rPr b="0" i="0" lang="en-SG" sz="24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for data transmission</a:t>
            </a:r>
            <a:endParaRPr sz="2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3850277" y="3571875"/>
            <a:ext cx="642938" cy="15144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 txBox="1"/>
          <p:nvPr/>
        </p:nvSpPr>
        <p:spPr>
          <a:xfrm rot="-5400000">
            <a:off x="3489508" y="4237310"/>
            <a:ext cx="13644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Unused cells</a:t>
            </a:r>
            <a:endParaRPr/>
          </a:p>
        </p:txBody>
      </p:sp>
      <p:cxnSp>
        <p:nvCxnSpPr>
          <p:cNvPr id="293" name="Google Shape;293;p15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94" name="Google Shape;29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 txBox="1"/>
          <p:nvPr/>
        </p:nvSpPr>
        <p:spPr>
          <a:xfrm>
            <a:off x="199622" y="310747"/>
            <a:ext cx="741561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Methods and issues in cell scheduling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6"/>
          <p:cNvSpPr txBox="1"/>
          <p:nvPr/>
        </p:nvSpPr>
        <p:spPr>
          <a:xfrm>
            <a:off x="0" y="1148775"/>
            <a:ext cx="7129463" cy="520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SG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Centralized approach: </a:t>
            </a:r>
            <a:r>
              <a:rPr lang="en-SG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PC decides </a:t>
            </a:r>
            <a:r>
              <a:rPr lang="en-SG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the scheduling for all the nodes 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Control packet overhead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Central node failure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SG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Distributed approach</a:t>
            </a:r>
            <a:r>
              <a:rPr lang="en-SG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SG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 pair of nodes</a:t>
            </a:r>
            <a:r>
              <a:rPr lang="en-SG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decides their cells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Control packet overhead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Possibility of cell overlapping</a:t>
            </a:r>
            <a:endParaRPr/>
          </a:p>
          <a:p>
            <a: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SG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Autonomous approach</a:t>
            </a:r>
            <a:r>
              <a:rPr lang="en-SG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: Nodes </a:t>
            </a:r>
            <a:r>
              <a:rPr lang="en-SG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autonomously </a:t>
            </a:r>
            <a:r>
              <a:rPr lang="en-SG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decide their cells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Possibility of cell overlapping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Most widely used but hard to make it more dynamic or adaptive</a:t>
            </a:r>
            <a:endParaRPr/>
          </a:p>
        </p:txBody>
      </p:sp>
      <p:pic>
        <p:nvPicPr>
          <p:cNvPr descr="A diagram of a slot frame&#10;&#10;Description automatically generated" id="301" name="Google Shape;3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9463" y="4313436"/>
            <a:ext cx="4949010" cy="20367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2" name="Google Shape;302;p16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03" name="Google Shape;30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"/>
          <p:cNvSpPr txBox="1"/>
          <p:nvPr/>
        </p:nvSpPr>
        <p:spPr>
          <a:xfrm>
            <a:off x="199622" y="310747"/>
            <a:ext cx="741561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Advantage of efficient cell scheduling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7"/>
          <p:cNvSpPr txBox="1"/>
          <p:nvPr/>
        </p:nvSpPr>
        <p:spPr>
          <a:xfrm>
            <a:off x="1243011" y="1957388"/>
            <a:ext cx="7215188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SG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Improves reliability</a:t>
            </a:r>
            <a:endParaRPr sz="2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Less packet collision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Better throughput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Bonded latency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SG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Reduce energy consumption</a:t>
            </a:r>
            <a:endParaRPr sz="2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Minimum number of re-transmission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Reduce control packet overhead</a:t>
            </a:r>
            <a:endParaRPr/>
          </a:p>
          <a:p>
            <a: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17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11" name="Google Shape;3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"/>
          <p:cNvSpPr txBox="1"/>
          <p:nvPr/>
        </p:nvSpPr>
        <p:spPr>
          <a:xfrm>
            <a:off x="199622" y="246706"/>
            <a:ext cx="741561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Issues in RPL Routing (RFC 6550)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iagram of a computer network&#10;&#10;Description automatically generated" id="317" name="Google Shape;3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622" y="895522"/>
            <a:ext cx="5662614" cy="576747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8"/>
          <p:cNvSpPr/>
          <p:nvPr/>
        </p:nvSpPr>
        <p:spPr>
          <a:xfrm>
            <a:off x="9667163" y="2219904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319" name="Google Shape;319;p18"/>
          <p:cNvSpPr/>
          <p:nvPr/>
        </p:nvSpPr>
        <p:spPr>
          <a:xfrm>
            <a:off x="8019179" y="2891918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20" name="Google Shape;320;p18"/>
          <p:cNvSpPr/>
          <p:nvPr/>
        </p:nvSpPr>
        <p:spPr>
          <a:xfrm>
            <a:off x="7557212" y="3649698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10052926" y="3877763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9052796" y="4406398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9468962" y="3863467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9205196" y="3044318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25" name="Google Shape;325;p18"/>
          <p:cNvSpPr/>
          <p:nvPr/>
        </p:nvSpPr>
        <p:spPr>
          <a:xfrm>
            <a:off x="10283909" y="4777878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9090334" y="5213866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10526287" y="3356074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18"/>
          <p:cNvCxnSpPr/>
          <p:nvPr/>
        </p:nvCxnSpPr>
        <p:spPr>
          <a:xfrm flipH="1" rot="10800000">
            <a:off x="8314829" y="2093309"/>
            <a:ext cx="514846" cy="79860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9" name="Google Shape;329;p18"/>
          <p:cNvCxnSpPr>
            <a:endCxn id="319" idx="3"/>
          </p:cNvCxnSpPr>
          <p:nvPr/>
        </p:nvCxnSpPr>
        <p:spPr>
          <a:xfrm flipH="1" rot="10800000">
            <a:off x="7909533" y="3281248"/>
            <a:ext cx="177300" cy="372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0" name="Google Shape;330;p18"/>
          <p:cNvCxnSpPr>
            <a:endCxn id="322" idx="4"/>
          </p:cNvCxnSpPr>
          <p:nvPr/>
        </p:nvCxnSpPr>
        <p:spPr>
          <a:xfrm rot="10800000">
            <a:off x="9283780" y="4862527"/>
            <a:ext cx="63900" cy="350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1" name="Google Shape;331;p18"/>
          <p:cNvCxnSpPr>
            <a:stCxn id="322" idx="0"/>
            <a:endCxn id="324" idx="4"/>
          </p:cNvCxnSpPr>
          <p:nvPr/>
        </p:nvCxnSpPr>
        <p:spPr>
          <a:xfrm flipH="1" rot="10800000">
            <a:off x="9283780" y="3500398"/>
            <a:ext cx="152400" cy="906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2" name="Google Shape;332;p18"/>
          <p:cNvCxnSpPr>
            <a:endCxn id="321" idx="4"/>
          </p:cNvCxnSpPr>
          <p:nvPr/>
        </p:nvCxnSpPr>
        <p:spPr>
          <a:xfrm rot="10800000">
            <a:off x="10283910" y="4333892"/>
            <a:ext cx="242100" cy="44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3" name="Google Shape;333;p18"/>
          <p:cNvCxnSpPr>
            <a:stCxn id="321" idx="1"/>
          </p:cNvCxnSpPr>
          <p:nvPr/>
        </p:nvCxnSpPr>
        <p:spPr>
          <a:xfrm rot="10800000">
            <a:off x="9651680" y="3355962"/>
            <a:ext cx="468900" cy="588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4" name="Google Shape;334;p18"/>
          <p:cNvCxnSpPr>
            <a:stCxn id="323" idx="0"/>
          </p:cNvCxnSpPr>
          <p:nvPr/>
        </p:nvCxnSpPr>
        <p:spPr>
          <a:xfrm rot="10800000">
            <a:off x="9551446" y="3456067"/>
            <a:ext cx="148500" cy="407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5" name="Google Shape;335;p18"/>
          <p:cNvCxnSpPr>
            <a:stCxn id="327" idx="2"/>
            <a:endCxn id="324" idx="6"/>
          </p:cNvCxnSpPr>
          <p:nvPr/>
        </p:nvCxnSpPr>
        <p:spPr>
          <a:xfrm rot="10800000">
            <a:off x="9667087" y="3272439"/>
            <a:ext cx="859200" cy="31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6" name="Google Shape;336;p18"/>
          <p:cNvCxnSpPr>
            <a:stCxn id="324" idx="0"/>
          </p:cNvCxnSpPr>
          <p:nvPr/>
        </p:nvCxnSpPr>
        <p:spPr>
          <a:xfrm rot="10800000">
            <a:off x="9006580" y="2093318"/>
            <a:ext cx="429600" cy="951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7" name="Google Shape;337;p18"/>
          <p:cNvCxnSpPr>
            <a:stCxn id="318" idx="1"/>
          </p:cNvCxnSpPr>
          <p:nvPr/>
        </p:nvCxnSpPr>
        <p:spPr>
          <a:xfrm rot="10800000">
            <a:off x="9191817" y="1956703"/>
            <a:ext cx="543000" cy="33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8" name="Google Shape;338;p18"/>
          <p:cNvSpPr/>
          <p:nvPr/>
        </p:nvSpPr>
        <p:spPr>
          <a:xfrm>
            <a:off x="8738722" y="1644540"/>
            <a:ext cx="480544" cy="487793"/>
          </a:xfrm>
          <a:prstGeom prst="ellipse">
            <a:avLst/>
          </a:prstGeom>
          <a:solidFill>
            <a:srgbClr val="ACB8CA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 txBox="1"/>
          <p:nvPr/>
        </p:nvSpPr>
        <p:spPr>
          <a:xfrm>
            <a:off x="9190645" y="1672492"/>
            <a:ext cx="6255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/>
          </a:p>
        </p:txBody>
      </p:sp>
      <p:sp>
        <p:nvSpPr>
          <p:cNvPr id="340" name="Google Shape;340;p18"/>
          <p:cNvSpPr txBox="1"/>
          <p:nvPr/>
        </p:nvSpPr>
        <p:spPr>
          <a:xfrm>
            <a:off x="8433392" y="2943403"/>
            <a:ext cx="6844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Relay</a:t>
            </a:r>
            <a:endParaRPr/>
          </a:p>
        </p:txBody>
      </p:sp>
      <p:sp>
        <p:nvSpPr>
          <p:cNvPr id="341" name="Google Shape;341;p18"/>
          <p:cNvSpPr txBox="1"/>
          <p:nvPr/>
        </p:nvSpPr>
        <p:spPr>
          <a:xfrm>
            <a:off x="9006617" y="5738276"/>
            <a:ext cx="577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Leaf</a:t>
            </a:r>
            <a:endParaRPr/>
          </a:p>
        </p:txBody>
      </p:sp>
      <p:sp>
        <p:nvSpPr>
          <p:cNvPr id="342" name="Google Shape;342;p18"/>
          <p:cNvSpPr txBox="1"/>
          <p:nvPr/>
        </p:nvSpPr>
        <p:spPr>
          <a:xfrm>
            <a:off x="8040522" y="6314911"/>
            <a:ext cx="29258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Logical Routing tree</a:t>
            </a:r>
            <a:endParaRPr/>
          </a:p>
        </p:txBody>
      </p:sp>
      <p:cxnSp>
        <p:nvCxnSpPr>
          <p:cNvPr id="343" name="Google Shape;343;p18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44" name="Google Shape;34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9"/>
          <p:cNvSpPr txBox="1"/>
          <p:nvPr>
            <p:ph type="title"/>
          </p:nvPr>
        </p:nvSpPr>
        <p:spPr>
          <a:xfrm>
            <a:off x="196266" y="128980"/>
            <a:ext cx="10515600" cy="92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en-SG"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Issues in RPL Routing</a:t>
            </a:r>
            <a:endParaRPr/>
          </a:p>
        </p:txBody>
      </p:sp>
      <p:sp>
        <p:nvSpPr>
          <p:cNvPr id="350" name="Google Shape;350;p19"/>
          <p:cNvSpPr/>
          <p:nvPr/>
        </p:nvSpPr>
        <p:spPr>
          <a:xfrm>
            <a:off x="3537825" y="2002767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351" name="Google Shape;351;p19"/>
          <p:cNvSpPr/>
          <p:nvPr/>
        </p:nvSpPr>
        <p:spPr>
          <a:xfrm>
            <a:off x="1889841" y="2674781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52" name="Google Shape;352;p19"/>
          <p:cNvSpPr/>
          <p:nvPr/>
        </p:nvSpPr>
        <p:spPr>
          <a:xfrm>
            <a:off x="1427874" y="3432561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/>
          <p:nvPr/>
        </p:nvSpPr>
        <p:spPr>
          <a:xfrm>
            <a:off x="3923588" y="3660626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2923458" y="4189261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3339624" y="3646330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/>
          <p:nvPr/>
        </p:nvSpPr>
        <p:spPr>
          <a:xfrm>
            <a:off x="3075858" y="2827181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57" name="Google Shape;357;p19"/>
          <p:cNvSpPr/>
          <p:nvPr/>
        </p:nvSpPr>
        <p:spPr>
          <a:xfrm>
            <a:off x="4154571" y="4560741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2960996" y="4996729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4396949" y="3138937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19"/>
          <p:cNvCxnSpPr/>
          <p:nvPr/>
        </p:nvCxnSpPr>
        <p:spPr>
          <a:xfrm flipH="1" rot="10800000">
            <a:off x="2185491" y="1876172"/>
            <a:ext cx="514846" cy="79860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1" name="Google Shape;361;p19"/>
          <p:cNvCxnSpPr>
            <a:endCxn id="351" idx="3"/>
          </p:cNvCxnSpPr>
          <p:nvPr/>
        </p:nvCxnSpPr>
        <p:spPr>
          <a:xfrm flipH="1" rot="10800000">
            <a:off x="1780195" y="3064111"/>
            <a:ext cx="177300" cy="372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2" name="Google Shape;362;p19"/>
          <p:cNvCxnSpPr>
            <a:endCxn id="354" idx="4"/>
          </p:cNvCxnSpPr>
          <p:nvPr/>
        </p:nvCxnSpPr>
        <p:spPr>
          <a:xfrm rot="10800000">
            <a:off x="3154442" y="4645390"/>
            <a:ext cx="63900" cy="350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3" name="Google Shape;363;p19"/>
          <p:cNvCxnSpPr>
            <a:stCxn id="354" idx="0"/>
            <a:endCxn id="356" idx="4"/>
          </p:cNvCxnSpPr>
          <p:nvPr/>
        </p:nvCxnSpPr>
        <p:spPr>
          <a:xfrm flipH="1" rot="10800000">
            <a:off x="3154442" y="3283261"/>
            <a:ext cx="152400" cy="906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4" name="Google Shape;364;p19"/>
          <p:cNvCxnSpPr>
            <a:endCxn id="353" idx="4"/>
          </p:cNvCxnSpPr>
          <p:nvPr/>
        </p:nvCxnSpPr>
        <p:spPr>
          <a:xfrm rot="10800000">
            <a:off x="4154572" y="4116755"/>
            <a:ext cx="242100" cy="44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5" name="Google Shape;365;p19"/>
          <p:cNvCxnSpPr>
            <a:stCxn id="353" idx="1"/>
          </p:cNvCxnSpPr>
          <p:nvPr/>
        </p:nvCxnSpPr>
        <p:spPr>
          <a:xfrm rot="10800000">
            <a:off x="3522342" y="3138825"/>
            <a:ext cx="468900" cy="588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6" name="Google Shape;366;p19"/>
          <p:cNvCxnSpPr>
            <a:stCxn id="355" idx="0"/>
          </p:cNvCxnSpPr>
          <p:nvPr/>
        </p:nvCxnSpPr>
        <p:spPr>
          <a:xfrm rot="10800000">
            <a:off x="3422107" y="3238930"/>
            <a:ext cx="148500" cy="407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7" name="Google Shape;367;p19"/>
          <p:cNvCxnSpPr>
            <a:stCxn id="359" idx="2"/>
            <a:endCxn id="356" idx="6"/>
          </p:cNvCxnSpPr>
          <p:nvPr/>
        </p:nvCxnSpPr>
        <p:spPr>
          <a:xfrm rot="10800000">
            <a:off x="3537749" y="3055302"/>
            <a:ext cx="859200" cy="31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8" name="Google Shape;368;p19"/>
          <p:cNvCxnSpPr>
            <a:stCxn id="356" idx="0"/>
          </p:cNvCxnSpPr>
          <p:nvPr/>
        </p:nvCxnSpPr>
        <p:spPr>
          <a:xfrm rot="10800000">
            <a:off x="2877242" y="1876181"/>
            <a:ext cx="429600" cy="951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9" name="Google Shape;369;p19"/>
          <p:cNvCxnSpPr>
            <a:stCxn id="350" idx="1"/>
          </p:cNvCxnSpPr>
          <p:nvPr/>
        </p:nvCxnSpPr>
        <p:spPr>
          <a:xfrm rot="10800000">
            <a:off x="3062479" y="1739566"/>
            <a:ext cx="543000" cy="33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0" name="Google Shape;370;p19"/>
          <p:cNvSpPr/>
          <p:nvPr/>
        </p:nvSpPr>
        <p:spPr>
          <a:xfrm>
            <a:off x="2609384" y="1427403"/>
            <a:ext cx="480544" cy="487793"/>
          </a:xfrm>
          <a:prstGeom prst="ellipse">
            <a:avLst/>
          </a:prstGeom>
          <a:solidFill>
            <a:srgbClr val="ACB8CA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 txBox="1"/>
          <p:nvPr/>
        </p:nvSpPr>
        <p:spPr>
          <a:xfrm>
            <a:off x="3061307" y="1455355"/>
            <a:ext cx="6255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/>
          </a:p>
        </p:txBody>
      </p:sp>
      <p:sp>
        <p:nvSpPr>
          <p:cNvPr id="372" name="Google Shape;372;p19"/>
          <p:cNvSpPr txBox="1"/>
          <p:nvPr/>
        </p:nvSpPr>
        <p:spPr>
          <a:xfrm>
            <a:off x="2304054" y="2726266"/>
            <a:ext cx="6844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Relay</a:t>
            </a:r>
            <a:endParaRPr/>
          </a:p>
        </p:txBody>
      </p:sp>
      <p:sp>
        <p:nvSpPr>
          <p:cNvPr id="373" name="Google Shape;373;p19"/>
          <p:cNvSpPr txBox="1"/>
          <p:nvPr/>
        </p:nvSpPr>
        <p:spPr>
          <a:xfrm>
            <a:off x="2877279" y="5521139"/>
            <a:ext cx="577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Leaf</a:t>
            </a:r>
            <a:endParaRPr/>
          </a:p>
        </p:txBody>
      </p:sp>
      <p:sp>
        <p:nvSpPr>
          <p:cNvPr id="374" name="Google Shape;374;p19"/>
          <p:cNvSpPr txBox="1"/>
          <p:nvPr/>
        </p:nvSpPr>
        <p:spPr>
          <a:xfrm>
            <a:off x="1598406" y="6210609"/>
            <a:ext cx="29258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Logical Routing tree</a:t>
            </a:r>
            <a:endParaRPr/>
          </a:p>
        </p:txBody>
      </p:sp>
      <p:sp>
        <p:nvSpPr>
          <p:cNvPr id="375" name="Google Shape;375;p19"/>
          <p:cNvSpPr/>
          <p:nvPr/>
        </p:nvSpPr>
        <p:spPr>
          <a:xfrm>
            <a:off x="3055571" y="2838423"/>
            <a:ext cx="488984" cy="43308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76" name="Google Shape;376;p19"/>
          <p:cNvSpPr/>
          <p:nvPr/>
        </p:nvSpPr>
        <p:spPr>
          <a:xfrm>
            <a:off x="9219500" y="1969423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377" name="Google Shape;377;p19"/>
          <p:cNvSpPr/>
          <p:nvPr/>
        </p:nvSpPr>
        <p:spPr>
          <a:xfrm>
            <a:off x="7571516" y="2641437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78" name="Google Shape;378;p19"/>
          <p:cNvSpPr/>
          <p:nvPr/>
        </p:nvSpPr>
        <p:spPr>
          <a:xfrm>
            <a:off x="7109549" y="3399217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9605263" y="3627282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8605133" y="4155917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9021299" y="3612986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8757533" y="2793837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9836246" y="4527397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8642671" y="4963385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10078624" y="3105593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" name="Google Shape;386;p19"/>
          <p:cNvCxnSpPr/>
          <p:nvPr/>
        </p:nvCxnSpPr>
        <p:spPr>
          <a:xfrm flipH="1" rot="10800000">
            <a:off x="7867166" y="1842828"/>
            <a:ext cx="514846" cy="79860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7" name="Google Shape;387;p19"/>
          <p:cNvCxnSpPr>
            <a:endCxn id="377" idx="3"/>
          </p:cNvCxnSpPr>
          <p:nvPr/>
        </p:nvCxnSpPr>
        <p:spPr>
          <a:xfrm flipH="1" rot="10800000">
            <a:off x="7461870" y="3030767"/>
            <a:ext cx="177300" cy="372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8" name="Google Shape;388;p19"/>
          <p:cNvCxnSpPr>
            <a:endCxn id="380" idx="4"/>
          </p:cNvCxnSpPr>
          <p:nvPr/>
        </p:nvCxnSpPr>
        <p:spPr>
          <a:xfrm rot="10800000">
            <a:off x="8836117" y="4612046"/>
            <a:ext cx="63900" cy="350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9" name="Google Shape;389;p19"/>
          <p:cNvCxnSpPr>
            <a:endCxn id="379" idx="4"/>
          </p:cNvCxnSpPr>
          <p:nvPr/>
        </p:nvCxnSpPr>
        <p:spPr>
          <a:xfrm rot="10800000">
            <a:off x="9836247" y="4083411"/>
            <a:ext cx="242100" cy="44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0" name="Google Shape;390;p19"/>
          <p:cNvCxnSpPr>
            <a:stCxn id="379" idx="1"/>
          </p:cNvCxnSpPr>
          <p:nvPr/>
        </p:nvCxnSpPr>
        <p:spPr>
          <a:xfrm rot="10800000">
            <a:off x="9204017" y="3105481"/>
            <a:ext cx="468900" cy="588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1" name="Google Shape;391;p19"/>
          <p:cNvCxnSpPr>
            <a:stCxn id="381" idx="0"/>
          </p:cNvCxnSpPr>
          <p:nvPr/>
        </p:nvCxnSpPr>
        <p:spPr>
          <a:xfrm rot="10800000">
            <a:off x="9103783" y="3205586"/>
            <a:ext cx="148500" cy="407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2" name="Google Shape;392;p19"/>
          <p:cNvCxnSpPr>
            <a:stCxn id="382" idx="0"/>
          </p:cNvCxnSpPr>
          <p:nvPr/>
        </p:nvCxnSpPr>
        <p:spPr>
          <a:xfrm rot="10800000">
            <a:off x="8558917" y="1842837"/>
            <a:ext cx="429600" cy="951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3" name="Google Shape;393;p19"/>
          <p:cNvCxnSpPr>
            <a:stCxn id="376" idx="1"/>
          </p:cNvCxnSpPr>
          <p:nvPr/>
        </p:nvCxnSpPr>
        <p:spPr>
          <a:xfrm rot="10800000">
            <a:off x="8744154" y="1706222"/>
            <a:ext cx="543000" cy="33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4" name="Google Shape;394;p19"/>
          <p:cNvSpPr/>
          <p:nvPr/>
        </p:nvSpPr>
        <p:spPr>
          <a:xfrm>
            <a:off x="8291059" y="1394059"/>
            <a:ext cx="480544" cy="487793"/>
          </a:xfrm>
          <a:prstGeom prst="ellipse">
            <a:avLst/>
          </a:prstGeom>
          <a:solidFill>
            <a:srgbClr val="ACB8CA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 txBox="1"/>
          <p:nvPr/>
        </p:nvSpPr>
        <p:spPr>
          <a:xfrm>
            <a:off x="8742982" y="1422011"/>
            <a:ext cx="6255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/>
          </a:p>
        </p:txBody>
      </p:sp>
      <p:sp>
        <p:nvSpPr>
          <p:cNvPr id="396" name="Google Shape;396;p19"/>
          <p:cNvSpPr txBox="1"/>
          <p:nvPr/>
        </p:nvSpPr>
        <p:spPr>
          <a:xfrm>
            <a:off x="7985729" y="2692922"/>
            <a:ext cx="6844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Relay</a:t>
            </a:r>
            <a:endParaRPr/>
          </a:p>
        </p:txBody>
      </p:sp>
      <p:sp>
        <p:nvSpPr>
          <p:cNvPr id="397" name="Google Shape;397;p19"/>
          <p:cNvSpPr txBox="1"/>
          <p:nvPr/>
        </p:nvSpPr>
        <p:spPr>
          <a:xfrm>
            <a:off x="8558954" y="5487795"/>
            <a:ext cx="577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Leaf</a:t>
            </a:r>
            <a:endParaRPr/>
          </a:p>
        </p:txBody>
      </p:sp>
      <p:cxnSp>
        <p:nvCxnSpPr>
          <p:cNvPr id="398" name="Google Shape;398;p19"/>
          <p:cNvCxnSpPr>
            <a:stCxn id="380" idx="1"/>
          </p:cNvCxnSpPr>
          <p:nvPr/>
        </p:nvCxnSpPr>
        <p:spPr>
          <a:xfrm rot="10800000">
            <a:off x="7985487" y="3045516"/>
            <a:ext cx="687300" cy="1177200"/>
          </a:xfrm>
          <a:prstGeom prst="straightConnector1">
            <a:avLst/>
          </a:prstGeom>
          <a:noFill/>
          <a:ln cap="flat" cmpd="sng" w="6032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9" name="Google Shape;399;p19"/>
          <p:cNvCxnSpPr>
            <a:stCxn id="385" idx="1"/>
          </p:cNvCxnSpPr>
          <p:nvPr/>
        </p:nvCxnSpPr>
        <p:spPr>
          <a:xfrm rot="10800000">
            <a:off x="9608078" y="2357592"/>
            <a:ext cx="538200" cy="814800"/>
          </a:xfrm>
          <a:prstGeom prst="straightConnector1">
            <a:avLst/>
          </a:prstGeom>
          <a:noFill/>
          <a:ln cap="flat" cmpd="sng" w="6032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00" name="Google Shape;400;p19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01" name="Google Shape;4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0"/>
          <p:cNvSpPr txBox="1"/>
          <p:nvPr/>
        </p:nvSpPr>
        <p:spPr>
          <a:xfrm>
            <a:off x="347656" y="884144"/>
            <a:ext cx="6100762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Load balance issue can </a:t>
            </a:r>
            <a:endParaRPr sz="2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Increase packet collision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Reduce throughput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Increase packet latency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Reduce lifetime of the network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9309989" y="2002767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408" name="Google Shape;408;p20"/>
          <p:cNvSpPr/>
          <p:nvPr/>
        </p:nvSpPr>
        <p:spPr>
          <a:xfrm>
            <a:off x="7662005" y="2674781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409" name="Google Shape;409;p20"/>
          <p:cNvSpPr/>
          <p:nvPr/>
        </p:nvSpPr>
        <p:spPr>
          <a:xfrm>
            <a:off x="7200038" y="3432561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0"/>
          <p:cNvSpPr/>
          <p:nvPr/>
        </p:nvSpPr>
        <p:spPr>
          <a:xfrm>
            <a:off x="9695752" y="3660626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0"/>
          <p:cNvSpPr/>
          <p:nvPr/>
        </p:nvSpPr>
        <p:spPr>
          <a:xfrm>
            <a:off x="8695622" y="4189261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9111788" y="3646330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8848022" y="2827181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9926735" y="4560741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8733160" y="4996729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/>
          <p:nvPr/>
        </p:nvSpPr>
        <p:spPr>
          <a:xfrm>
            <a:off x="10169113" y="3138937"/>
            <a:ext cx="461967" cy="4561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7" name="Google Shape;417;p20"/>
          <p:cNvCxnSpPr/>
          <p:nvPr/>
        </p:nvCxnSpPr>
        <p:spPr>
          <a:xfrm flipH="1" rot="10800000">
            <a:off x="7957655" y="1876172"/>
            <a:ext cx="514846" cy="79860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18" name="Google Shape;418;p20"/>
          <p:cNvCxnSpPr>
            <a:endCxn id="408" idx="3"/>
          </p:cNvCxnSpPr>
          <p:nvPr/>
        </p:nvCxnSpPr>
        <p:spPr>
          <a:xfrm flipH="1" rot="10800000">
            <a:off x="7552359" y="3064111"/>
            <a:ext cx="177300" cy="372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19" name="Google Shape;419;p20"/>
          <p:cNvCxnSpPr>
            <a:endCxn id="411" idx="4"/>
          </p:cNvCxnSpPr>
          <p:nvPr/>
        </p:nvCxnSpPr>
        <p:spPr>
          <a:xfrm rot="10800000">
            <a:off x="8926606" y="4645390"/>
            <a:ext cx="63900" cy="350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0" name="Google Shape;420;p20"/>
          <p:cNvCxnSpPr>
            <a:stCxn id="411" idx="0"/>
            <a:endCxn id="413" idx="4"/>
          </p:cNvCxnSpPr>
          <p:nvPr/>
        </p:nvCxnSpPr>
        <p:spPr>
          <a:xfrm flipH="1" rot="10800000">
            <a:off x="8926606" y="3283261"/>
            <a:ext cx="152400" cy="906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1" name="Google Shape;421;p20"/>
          <p:cNvCxnSpPr>
            <a:endCxn id="410" idx="4"/>
          </p:cNvCxnSpPr>
          <p:nvPr/>
        </p:nvCxnSpPr>
        <p:spPr>
          <a:xfrm rot="10800000">
            <a:off x="9926736" y="4116755"/>
            <a:ext cx="242100" cy="44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2" name="Google Shape;422;p20"/>
          <p:cNvCxnSpPr>
            <a:stCxn id="410" idx="1"/>
          </p:cNvCxnSpPr>
          <p:nvPr/>
        </p:nvCxnSpPr>
        <p:spPr>
          <a:xfrm rot="10800000">
            <a:off x="9294506" y="3138825"/>
            <a:ext cx="468900" cy="588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3" name="Google Shape;423;p20"/>
          <p:cNvCxnSpPr>
            <a:stCxn id="412" idx="0"/>
          </p:cNvCxnSpPr>
          <p:nvPr/>
        </p:nvCxnSpPr>
        <p:spPr>
          <a:xfrm rot="10800000">
            <a:off x="9194272" y="3238930"/>
            <a:ext cx="148500" cy="407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4" name="Google Shape;424;p20"/>
          <p:cNvCxnSpPr>
            <a:stCxn id="416" idx="2"/>
            <a:endCxn id="413" idx="6"/>
          </p:cNvCxnSpPr>
          <p:nvPr/>
        </p:nvCxnSpPr>
        <p:spPr>
          <a:xfrm rot="10800000">
            <a:off x="9309913" y="3055302"/>
            <a:ext cx="859200" cy="31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5" name="Google Shape;425;p20"/>
          <p:cNvCxnSpPr>
            <a:stCxn id="413" idx="0"/>
          </p:cNvCxnSpPr>
          <p:nvPr/>
        </p:nvCxnSpPr>
        <p:spPr>
          <a:xfrm rot="10800000">
            <a:off x="8649406" y="1876181"/>
            <a:ext cx="429600" cy="951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6" name="Google Shape;426;p20"/>
          <p:cNvCxnSpPr>
            <a:stCxn id="407" idx="1"/>
          </p:cNvCxnSpPr>
          <p:nvPr/>
        </p:nvCxnSpPr>
        <p:spPr>
          <a:xfrm rot="10800000">
            <a:off x="8834643" y="1739566"/>
            <a:ext cx="543000" cy="33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7" name="Google Shape;427;p20"/>
          <p:cNvSpPr/>
          <p:nvPr/>
        </p:nvSpPr>
        <p:spPr>
          <a:xfrm>
            <a:off x="8381548" y="1427403"/>
            <a:ext cx="480544" cy="487793"/>
          </a:xfrm>
          <a:prstGeom prst="ellipse">
            <a:avLst/>
          </a:prstGeom>
          <a:solidFill>
            <a:srgbClr val="ACB8CA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 txBox="1"/>
          <p:nvPr/>
        </p:nvSpPr>
        <p:spPr>
          <a:xfrm>
            <a:off x="8833471" y="1455355"/>
            <a:ext cx="6255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/>
          </a:p>
        </p:txBody>
      </p:sp>
      <p:sp>
        <p:nvSpPr>
          <p:cNvPr id="429" name="Google Shape;429;p20"/>
          <p:cNvSpPr txBox="1"/>
          <p:nvPr/>
        </p:nvSpPr>
        <p:spPr>
          <a:xfrm>
            <a:off x="8076218" y="2726266"/>
            <a:ext cx="6844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Relay</a:t>
            </a:r>
            <a:endParaRPr/>
          </a:p>
        </p:txBody>
      </p:sp>
      <p:sp>
        <p:nvSpPr>
          <p:cNvPr id="430" name="Google Shape;430;p20"/>
          <p:cNvSpPr txBox="1"/>
          <p:nvPr/>
        </p:nvSpPr>
        <p:spPr>
          <a:xfrm>
            <a:off x="8649443" y="5521139"/>
            <a:ext cx="577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Leaf</a:t>
            </a:r>
            <a:endParaRPr/>
          </a:p>
        </p:txBody>
      </p:sp>
      <p:sp>
        <p:nvSpPr>
          <p:cNvPr id="431" name="Google Shape;431;p20"/>
          <p:cNvSpPr/>
          <p:nvPr/>
        </p:nvSpPr>
        <p:spPr>
          <a:xfrm>
            <a:off x="8827735" y="2838423"/>
            <a:ext cx="488984" cy="43308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432" name="Google Shape;432;p20"/>
          <p:cNvSpPr txBox="1"/>
          <p:nvPr/>
        </p:nvSpPr>
        <p:spPr>
          <a:xfrm>
            <a:off x="9301179" y="2721365"/>
            <a:ext cx="16161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Malicious node</a:t>
            </a:r>
            <a:endParaRPr/>
          </a:p>
        </p:txBody>
      </p:sp>
      <p:sp>
        <p:nvSpPr>
          <p:cNvPr id="433" name="Google Shape;433;p20"/>
          <p:cNvSpPr txBox="1"/>
          <p:nvPr/>
        </p:nvSpPr>
        <p:spPr>
          <a:xfrm>
            <a:off x="429117" y="3529689"/>
            <a:ext cx="6100762" cy="2431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Malicious node can impose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DIS Flooding Attack (DFA)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Sinkhole Attack (SHA)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Selective Forwarding attack (SFA)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Jamming attack etc., 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4" name="Google Shape;434;p20"/>
          <p:cNvCxnSpPr/>
          <p:nvPr/>
        </p:nvCxnSpPr>
        <p:spPr>
          <a:xfrm>
            <a:off x="0" y="871532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5" name="Google Shape;435;p20"/>
          <p:cNvSpPr txBox="1"/>
          <p:nvPr/>
        </p:nvSpPr>
        <p:spPr>
          <a:xfrm>
            <a:off x="263463" y="224551"/>
            <a:ext cx="762952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3200" u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Cont.…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87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 txBox="1"/>
          <p:nvPr/>
        </p:nvSpPr>
        <p:spPr>
          <a:xfrm>
            <a:off x="36907" y="1027109"/>
            <a:ext cx="12118185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Recently, we performed testbed experiments by imposing few routing attacks 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FIT-IoTLAB testbed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Open source IoT Testbed </a:t>
            </a:r>
            <a:endParaRPr/>
          </a:p>
        </p:txBody>
      </p:sp>
      <p:pic>
        <p:nvPicPr>
          <p:cNvPr id="442" name="Google Shape;4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9225" y="2151894"/>
            <a:ext cx="6977063" cy="36789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iagram of a diagram and a diagram of a diagram&#10;&#10;Description automatically generated" id="443" name="Google Shape;44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45" y="3968767"/>
            <a:ext cx="5548893" cy="18916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4" name="Google Shape;444;p21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5" name="Google Shape;445;p21"/>
          <p:cNvSpPr txBox="1"/>
          <p:nvPr/>
        </p:nvSpPr>
        <p:spPr>
          <a:xfrm>
            <a:off x="263463" y="224551"/>
            <a:ext cx="762952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3200" u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Experimental setup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643278" y="2372868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2"/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SG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found that</a:t>
            </a:r>
            <a:endParaRPr/>
          </a:p>
          <a:p>
            <a:pPr indent="-228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</a:pPr>
            <a:r>
              <a:rPr b="0" i="0" lang="en-SG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Packet delivery ratio </a:t>
            </a:r>
            <a:r>
              <a:rPr b="0" i="0" lang="en-SG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(PDR) has significantly </a:t>
            </a:r>
            <a:r>
              <a:rPr b="0" i="0" lang="en-SG" sz="2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dropped</a:t>
            </a:r>
            <a:endParaRPr/>
          </a:p>
          <a:p>
            <a:pPr indent="-228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</a:pPr>
            <a:r>
              <a:rPr b="0" i="0" lang="en-SG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Increases energy consumption</a:t>
            </a:r>
            <a:endParaRPr/>
          </a:p>
          <a:p>
            <a:pPr indent="-228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</a:pPr>
            <a:r>
              <a:rPr b="0" i="0" lang="en-SG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Increases packet latency</a:t>
            </a:r>
            <a:endParaRPr/>
          </a:p>
          <a:p>
            <a:pPr indent="1397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oup of blue and orange bars&#10;&#10;Description automatically generated" id="454" name="Google Shape;45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2125" y="1081644"/>
            <a:ext cx="5985891" cy="51478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5" name="Google Shape;455;p22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6" name="Google Shape;456;p22"/>
          <p:cNvSpPr txBox="1"/>
          <p:nvPr/>
        </p:nvSpPr>
        <p:spPr>
          <a:xfrm>
            <a:off x="263463" y="224551"/>
            <a:ext cx="762952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3200" u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Experimental Results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3"/>
          <p:cNvSpPr txBox="1"/>
          <p:nvPr>
            <p:ph type="title"/>
          </p:nvPr>
        </p:nvSpPr>
        <p:spPr>
          <a:xfrm>
            <a:off x="196266" y="128980"/>
            <a:ext cx="10515600" cy="9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en-SG"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How to detect routing attacks</a:t>
            </a:r>
            <a:endParaRPr/>
          </a:p>
        </p:txBody>
      </p:sp>
      <p:sp>
        <p:nvSpPr>
          <p:cNvPr id="463" name="Google Shape;463;p23"/>
          <p:cNvSpPr txBox="1"/>
          <p:nvPr/>
        </p:nvSpPr>
        <p:spPr>
          <a:xfrm>
            <a:off x="348582" y="1305342"/>
            <a:ext cx="9433509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Machine Learning (ML) cannot be used  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Because of the resource-constrained IoT devices</a:t>
            </a:r>
            <a:endParaRPr/>
          </a:p>
          <a:p>
            <a:pPr indent="-330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Nodes cannot transmit their information to the root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</a:pPr>
            <a:r>
              <a:rPr b="0" i="0" lang="en-SG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Energy consumption and overhead issue</a:t>
            </a:r>
            <a:r>
              <a:rPr b="0" i="0" lang="en-SG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 program&#10;&#10;Description automatically generated" id="464" name="Google Shape;46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266" y="3850946"/>
            <a:ext cx="4341813" cy="2065008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3"/>
          <p:cNvSpPr txBox="1"/>
          <p:nvPr/>
        </p:nvSpPr>
        <p:spPr>
          <a:xfrm>
            <a:off x="851148" y="6159220"/>
            <a:ext cx="30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Node-packet level information</a:t>
            </a:r>
            <a:endParaRPr/>
          </a:p>
        </p:txBody>
      </p:sp>
      <p:sp>
        <p:nvSpPr>
          <p:cNvPr id="466" name="Google Shape;466;p23"/>
          <p:cNvSpPr/>
          <p:nvPr/>
        </p:nvSpPr>
        <p:spPr>
          <a:xfrm>
            <a:off x="4616306" y="4797170"/>
            <a:ext cx="766762" cy="28575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and orange snake logo&#10;&#10;Description automatically generated" id="467" name="Google Shape;46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1295" y="4094176"/>
            <a:ext cx="1757362" cy="1757362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3"/>
          <p:cNvSpPr txBox="1"/>
          <p:nvPr/>
        </p:nvSpPr>
        <p:spPr>
          <a:xfrm>
            <a:off x="5892834" y="6167458"/>
            <a:ext cx="8942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/>
          </a:p>
        </p:txBody>
      </p:sp>
      <p:sp>
        <p:nvSpPr>
          <p:cNvPr id="469" name="Google Shape;469;p23"/>
          <p:cNvSpPr/>
          <p:nvPr/>
        </p:nvSpPr>
        <p:spPr>
          <a:xfrm>
            <a:off x="7375111" y="4797170"/>
            <a:ext cx="766762" cy="28575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table of data&#10;&#10;Description automatically generated" id="470" name="Google Shape;47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1873" y="3633022"/>
            <a:ext cx="3588142" cy="2470298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3"/>
          <p:cNvSpPr txBox="1"/>
          <p:nvPr/>
        </p:nvSpPr>
        <p:spPr>
          <a:xfrm>
            <a:off x="9331359" y="6183230"/>
            <a:ext cx="9014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/>
          </a:p>
        </p:txBody>
      </p:sp>
      <p:cxnSp>
        <p:nvCxnSpPr>
          <p:cNvPr id="472" name="Google Shape;472;p23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73" name="Google Shape;47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a computer network&#10;&#10;Description automatically generated" id="478" name="Google Shape;47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512" y="1042988"/>
            <a:ext cx="5815014" cy="5283534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4"/>
          <p:cNvSpPr/>
          <p:nvPr/>
        </p:nvSpPr>
        <p:spPr>
          <a:xfrm>
            <a:off x="2814637" y="3583323"/>
            <a:ext cx="1528763" cy="18288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0" name="Google Shape;480;p24"/>
          <p:cNvCxnSpPr>
            <a:stCxn id="479" idx="6"/>
          </p:cNvCxnSpPr>
          <p:nvPr/>
        </p:nvCxnSpPr>
        <p:spPr>
          <a:xfrm flipH="1" rot="10800000">
            <a:off x="4343400" y="2576223"/>
            <a:ext cx="3602700" cy="1921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1" name="Google Shape;481;p24"/>
          <p:cNvSpPr txBox="1"/>
          <p:nvPr/>
        </p:nvSpPr>
        <p:spPr>
          <a:xfrm>
            <a:off x="7946231" y="2114550"/>
            <a:ext cx="357425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lang="en-SG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Capture</a:t>
            </a: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packet level information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lang="en-SG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Forward</a:t>
            </a: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 to the root node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Assumed to have enough energy resource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lang="en-SG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 use </a:t>
            </a:r>
            <a:r>
              <a:rPr lang="en-SG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ML algorithms </a:t>
            </a: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SG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2" name="Google Shape;482;p24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3" name="Google Shape;483;p24"/>
          <p:cNvSpPr txBox="1"/>
          <p:nvPr/>
        </p:nvSpPr>
        <p:spPr>
          <a:xfrm>
            <a:off x="263463" y="224551"/>
            <a:ext cx="762952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3200" u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 simple IDS resource-constrained IoT</a:t>
            </a:r>
            <a:endParaRPr b="0"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4" name="Google Shape;48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1e2bc6d316_0_0"/>
          <p:cNvSpPr txBox="1"/>
          <p:nvPr/>
        </p:nvSpPr>
        <p:spPr>
          <a:xfrm>
            <a:off x="335360" y="44624"/>
            <a:ext cx="11233200" cy="8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</a:pPr>
            <a:r>
              <a:t/>
            </a:r>
            <a:endParaRPr b="1" i="0" sz="5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g31e2bc6d316_0_0"/>
          <p:cNvSpPr txBox="1"/>
          <p:nvPr/>
        </p:nvSpPr>
        <p:spPr>
          <a:xfrm>
            <a:off x="335375" y="1862798"/>
            <a:ext cx="11233200" cy="21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</a:pPr>
            <a:r>
              <a:rPr lang="en-SG" sz="5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Basics of</a:t>
            </a:r>
            <a:r>
              <a:rPr b="0" i="0" lang="en-SG" sz="59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Contiki NG </a:t>
            </a:r>
            <a:endParaRPr b="0" i="0" sz="59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</a:pPr>
            <a:r>
              <a:rPr b="0" i="0" lang="en-SG" sz="59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Operating System</a:t>
            </a:r>
            <a:endParaRPr b="1" i="0" sz="53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1e2bc6d316_0_0"/>
          <p:cNvSpPr txBox="1"/>
          <p:nvPr/>
        </p:nvSpPr>
        <p:spPr>
          <a:xfrm>
            <a:off x="538560" y="44624"/>
            <a:ext cx="11233200" cy="8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900"/>
              <a:buFont typeface="Times New Roman"/>
              <a:buNone/>
            </a:pPr>
            <a:r>
              <a:t/>
            </a:r>
            <a:endParaRPr b="1" i="0" sz="5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2" name="Google Shape;492;g31e2bc6d31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1e2bc6d316_0_6"/>
          <p:cNvSpPr txBox="1"/>
          <p:nvPr>
            <p:ph idx="1" type="body"/>
          </p:nvPr>
        </p:nvSpPr>
        <p:spPr>
          <a:xfrm>
            <a:off x="298267" y="1824900"/>
            <a:ext cx="11440800" cy="3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-43180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SG" sz="2000"/>
              <a:t>Contiki OS is an </a:t>
            </a:r>
            <a:r>
              <a:rPr lang="en-SG" sz="2000">
                <a:solidFill>
                  <a:srgbClr val="FF0000"/>
                </a:solidFill>
              </a:rPr>
              <a:t>open source </a:t>
            </a:r>
            <a:r>
              <a:rPr lang="en-SG" sz="2000">
                <a:solidFill>
                  <a:srgbClr val="0033CC"/>
                </a:solidFill>
              </a:rPr>
              <a:t>Operating System </a:t>
            </a:r>
            <a:r>
              <a:rPr lang="en-SG" sz="2000"/>
              <a:t>for  </a:t>
            </a:r>
            <a:r>
              <a:rPr lang="en-SG" sz="2000">
                <a:solidFill>
                  <a:srgbClr val="FF0000"/>
                </a:solidFill>
              </a:rPr>
              <a:t>Internet of Things</a:t>
            </a:r>
            <a:endParaRPr sz="2000"/>
          </a:p>
          <a:p>
            <a:pPr indent="-431800" lvl="1" marL="1219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SG" sz="2000"/>
              <a:t>runs on </a:t>
            </a:r>
            <a:r>
              <a:rPr lang="en-SG" sz="2000">
                <a:solidFill>
                  <a:srgbClr val="FF0000"/>
                </a:solidFill>
              </a:rPr>
              <a:t>tiny low-power </a:t>
            </a:r>
            <a:r>
              <a:rPr lang="en-SG" sz="2000">
                <a:solidFill>
                  <a:srgbClr val="0033CC"/>
                </a:solidFill>
              </a:rPr>
              <a:t>microcontrollers</a:t>
            </a:r>
            <a:endParaRPr sz="2000">
              <a:solidFill>
                <a:srgbClr val="0033CC"/>
              </a:solidFill>
            </a:endParaRPr>
          </a:p>
          <a:p>
            <a:pPr indent="0" lvl="0" marL="1219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3CC"/>
              </a:solidFill>
            </a:endParaRPr>
          </a:p>
          <a:p>
            <a:pPr indent="-431800" lvl="0" marL="6096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SG" sz="2000"/>
              <a:t>It </a:t>
            </a:r>
            <a:r>
              <a:rPr lang="en-SG" sz="2000">
                <a:solidFill>
                  <a:srgbClr val="FF0000"/>
                </a:solidFill>
              </a:rPr>
              <a:t>allows to develop applications</a:t>
            </a:r>
            <a:r>
              <a:rPr lang="en-SG" sz="2000"/>
              <a:t> for different hardware platforms</a:t>
            </a:r>
            <a:endParaRPr sz="2000"/>
          </a:p>
          <a:p>
            <a:pPr indent="-431800" lvl="1" marL="1219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SG" sz="2000"/>
              <a:t>Using BLE and IEEE 802.15.4  wireless communication standards</a:t>
            </a:r>
            <a:endParaRPr sz="2000"/>
          </a:p>
        </p:txBody>
      </p:sp>
      <p:sp>
        <p:nvSpPr>
          <p:cNvPr id="498" name="Google Shape;498;g31e2bc6d316_0_6"/>
          <p:cNvSpPr txBox="1"/>
          <p:nvPr/>
        </p:nvSpPr>
        <p:spPr>
          <a:xfrm>
            <a:off x="0" y="0"/>
            <a:ext cx="77607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3300">
                <a:solidFill>
                  <a:srgbClr val="FF0000"/>
                </a:solidFill>
              </a:rPr>
              <a:t>What is Contiki OS?</a:t>
            </a:r>
            <a:endParaRPr sz="3300"/>
          </a:p>
        </p:txBody>
      </p:sp>
      <p:cxnSp>
        <p:nvCxnSpPr>
          <p:cNvPr id="499" name="Google Shape;499;g31e2bc6d316_0_6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00" name="Google Shape;500;g31e2bc6d316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8275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1e2bc6d316_0_12"/>
          <p:cNvSpPr txBox="1"/>
          <p:nvPr>
            <p:ph idx="1" type="body"/>
          </p:nvPr>
        </p:nvSpPr>
        <p:spPr>
          <a:xfrm>
            <a:off x="607200" y="1472000"/>
            <a:ext cx="10977600" cy="3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SG" sz="2000"/>
              <a:t>The latest version of Contiki is known as </a:t>
            </a:r>
            <a:r>
              <a:rPr lang="en-SG" sz="2000">
                <a:solidFill>
                  <a:srgbClr val="FF0000"/>
                </a:solidFill>
              </a:rPr>
              <a:t>Contiki-NG</a:t>
            </a:r>
            <a:r>
              <a:rPr lang="en-SG" sz="2000"/>
              <a:t> (Contiki Next Generation)</a:t>
            </a:r>
            <a:endParaRPr sz="20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4318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-SG" sz="2000"/>
              <a:t>Complete installation procedure of Contiki-NG on Linux can be found at the below link,</a:t>
            </a:r>
            <a:endParaRPr sz="2000"/>
          </a:p>
          <a:p>
            <a:pPr indent="-355600" lvl="1" marL="990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SG" sz="2000" u="sng">
                <a:solidFill>
                  <a:schemeClr val="hlink"/>
                </a:solidFill>
                <a:hlinkClick r:id="rId3"/>
              </a:rPr>
              <a:t>https://github.com/contiki-ng/contiki-ng/wiki/Toolchain-installation-on-Linux</a:t>
            </a:r>
            <a:endParaRPr sz="2000"/>
          </a:p>
          <a:p>
            <a:pPr indent="0" lvl="0" marL="9906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810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</a:pPr>
            <a:r>
              <a:rPr lang="en-SG" sz="2000"/>
              <a:t>One can install Contiki-NG using </a:t>
            </a:r>
            <a:r>
              <a:rPr lang="en-SG" sz="2000">
                <a:solidFill>
                  <a:srgbClr val="FF0000"/>
                </a:solidFill>
              </a:rPr>
              <a:t>Virtual Box/Docker </a:t>
            </a:r>
            <a:r>
              <a:rPr lang="en-SG" sz="2000"/>
              <a:t>on Windows OS/MacOS.</a:t>
            </a:r>
            <a:endParaRPr sz="2000"/>
          </a:p>
        </p:txBody>
      </p:sp>
      <p:sp>
        <p:nvSpPr>
          <p:cNvPr id="506" name="Google Shape;506;g31e2bc6d316_0_12"/>
          <p:cNvSpPr txBox="1"/>
          <p:nvPr/>
        </p:nvSpPr>
        <p:spPr>
          <a:xfrm>
            <a:off x="0" y="0"/>
            <a:ext cx="10854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3300">
                <a:solidFill>
                  <a:srgbClr val="FF0000"/>
                </a:solidFill>
              </a:rPr>
              <a:t>How to install Contiki-NG</a:t>
            </a:r>
            <a:endParaRPr sz="3300"/>
          </a:p>
        </p:txBody>
      </p:sp>
      <p:cxnSp>
        <p:nvCxnSpPr>
          <p:cNvPr id="507" name="Google Shape;507;g31e2bc6d316_0_12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08" name="Google Shape;508;g31e2bc6d316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1e2bc6d316_0_18"/>
          <p:cNvSpPr txBox="1"/>
          <p:nvPr>
            <p:ph idx="1" type="body"/>
          </p:nvPr>
        </p:nvSpPr>
        <p:spPr>
          <a:xfrm>
            <a:off x="143339" y="1454277"/>
            <a:ext cx="11905200" cy="51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</a:pPr>
            <a:r>
              <a:rPr lang="en-SG" sz="2000"/>
              <a:t>Contiki NG has open-sourced the Cooja IoT Network Simulator.</a:t>
            </a:r>
            <a:endParaRPr sz="2000"/>
          </a:p>
          <a:p>
            <a:pPr indent="0" lvl="0" marL="990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</a:pPr>
            <a:r>
              <a:rPr lang="en-SG" sz="2000"/>
              <a:t>Cooja is a </a:t>
            </a:r>
            <a:r>
              <a:rPr lang="en-SG" sz="2000">
                <a:solidFill>
                  <a:srgbClr val="FF0000"/>
                </a:solidFill>
              </a:rPr>
              <a:t>Java-based network simulator</a:t>
            </a:r>
            <a:endParaRPr sz="2000">
              <a:solidFill>
                <a:srgbClr val="FF0000"/>
              </a:solidFill>
            </a:endParaRPr>
          </a:p>
          <a:p>
            <a:pPr indent="-342900" lvl="1" marL="9906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○"/>
            </a:pPr>
            <a:r>
              <a:rPr lang="en-SG" sz="2000"/>
              <a:t>To perform </a:t>
            </a:r>
            <a:r>
              <a:rPr lang="en-SG" sz="2000">
                <a:solidFill>
                  <a:srgbClr val="FF0000"/>
                </a:solidFill>
              </a:rPr>
              <a:t>IoT network simulations</a:t>
            </a:r>
            <a:endParaRPr sz="2000">
              <a:solidFill>
                <a:srgbClr val="FF0000"/>
              </a:solidFill>
            </a:endParaRPr>
          </a:p>
          <a:p>
            <a:pPr indent="-342900" lvl="1" marL="9906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○"/>
            </a:pPr>
            <a:r>
              <a:rPr lang="en-SG" sz="2000"/>
              <a:t>Allows </a:t>
            </a:r>
            <a:r>
              <a:rPr lang="en-SG" sz="2000">
                <a:solidFill>
                  <a:srgbClr val="FF0000"/>
                </a:solidFill>
              </a:rPr>
              <a:t>large and small networks </a:t>
            </a:r>
            <a:r>
              <a:rPr lang="en-SG" sz="2000"/>
              <a:t>of motes can be simulated at </a:t>
            </a:r>
            <a:r>
              <a:rPr lang="en-SG" sz="2000">
                <a:solidFill>
                  <a:srgbClr val="FF0000"/>
                </a:solidFill>
              </a:rPr>
              <a:t>hardware level</a:t>
            </a:r>
            <a:endParaRPr sz="2000">
              <a:solidFill>
                <a:srgbClr val="FF0000"/>
              </a:solidFill>
            </a:endParaRPr>
          </a:p>
          <a:p>
            <a:pPr indent="-355600" lvl="1" marL="9906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Char char="○"/>
            </a:pPr>
            <a:r>
              <a:rPr lang="en-SG" sz="2000"/>
              <a:t>It allows developers to </a:t>
            </a:r>
            <a:r>
              <a:rPr lang="en-SG" sz="2000">
                <a:solidFill>
                  <a:srgbClr val="FF0000"/>
                </a:solidFill>
              </a:rPr>
              <a:t>test their code and systems</a:t>
            </a:r>
            <a:r>
              <a:rPr lang="en-SG" sz="2000"/>
              <a:t>  before running it on the target hardware</a:t>
            </a:r>
            <a:endParaRPr sz="2000">
              <a:solidFill>
                <a:srgbClr val="FF0000"/>
              </a:solidFill>
            </a:endParaRPr>
          </a:p>
          <a:p>
            <a:pPr indent="0" lvl="0" marL="9906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0000"/>
              </a:solidFill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SG" sz="2000"/>
              <a:t>The same firmware based on Contiki NG OS can be used for both Simulation and testbed experiments.</a:t>
            </a:r>
            <a:endParaRPr sz="2000"/>
          </a:p>
          <a:p>
            <a:pPr indent="0" lvl="0" marL="9906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514" name="Google Shape;514;g31e2bc6d316_0_18"/>
          <p:cNvSpPr txBox="1"/>
          <p:nvPr/>
        </p:nvSpPr>
        <p:spPr>
          <a:xfrm>
            <a:off x="203200" y="119500"/>
            <a:ext cx="6852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3300">
                <a:solidFill>
                  <a:srgbClr val="FF0000"/>
                </a:solidFill>
              </a:rPr>
              <a:t>Cooja Simulator</a:t>
            </a:r>
            <a:endParaRPr b="1" sz="3300">
              <a:solidFill>
                <a:srgbClr val="FF0000"/>
              </a:solidFill>
            </a:endParaRPr>
          </a:p>
        </p:txBody>
      </p:sp>
      <p:cxnSp>
        <p:nvCxnSpPr>
          <p:cNvPr id="515" name="Google Shape;515;g31e2bc6d316_0_18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6" name="Google Shape;516;g31e2bc6d316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1e2bc6d316_0_24"/>
          <p:cNvSpPr txBox="1"/>
          <p:nvPr>
            <p:ph idx="1" type="body"/>
          </p:nvPr>
        </p:nvSpPr>
        <p:spPr>
          <a:xfrm>
            <a:off x="143339" y="1124744"/>
            <a:ext cx="11905200" cy="51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-43180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SG" sz="2000"/>
              <a:t>After Contiki-NG installation</a:t>
            </a:r>
            <a:r>
              <a:rPr lang="en-SG" sz="2000">
                <a:solidFill>
                  <a:srgbClr val="FF0000"/>
                </a:solidFill>
              </a:rPr>
              <a:t>, start</a:t>
            </a:r>
            <a:r>
              <a:rPr lang="en-SG" sz="2000"/>
              <a:t> Cooja Simulator  using the command “</a:t>
            </a:r>
            <a:r>
              <a:rPr i="1" lang="en-SG" sz="2000">
                <a:solidFill>
                  <a:srgbClr val="FF0000"/>
                </a:solidFill>
              </a:rPr>
              <a:t>ant run</a:t>
            </a:r>
            <a:r>
              <a:rPr lang="en-SG" sz="2000"/>
              <a:t>” inside the </a:t>
            </a:r>
            <a:r>
              <a:rPr lang="en-SG" sz="2000">
                <a:solidFill>
                  <a:srgbClr val="FF0000"/>
                </a:solidFill>
              </a:rPr>
              <a:t>Cooja directory </a:t>
            </a:r>
            <a:r>
              <a:rPr lang="en-SG" sz="2000"/>
              <a:t>of Contiki-NG. </a:t>
            </a:r>
            <a:endParaRPr sz="2000"/>
          </a:p>
        </p:txBody>
      </p:sp>
      <p:pic>
        <p:nvPicPr>
          <p:cNvPr id="522" name="Google Shape;522;g31e2bc6d316_0_24"/>
          <p:cNvPicPr preferRelativeResize="0"/>
          <p:nvPr/>
        </p:nvPicPr>
        <p:blipFill rotWithShape="1">
          <a:blip r:embed="rId3">
            <a:alphaModFix/>
          </a:blip>
          <a:srcRect b="6154" l="8664" r="18887" t="2804"/>
          <a:stretch/>
        </p:blipFill>
        <p:spPr>
          <a:xfrm>
            <a:off x="767407" y="2642857"/>
            <a:ext cx="9457050" cy="376939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1e2bc6d316_0_24"/>
          <p:cNvSpPr/>
          <p:nvPr/>
        </p:nvSpPr>
        <p:spPr>
          <a:xfrm>
            <a:off x="978775" y="2505078"/>
            <a:ext cx="3168300" cy="5859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1e2bc6d316_0_24"/>
          <p:cNvSpPr/>
          <p:nvPr/>
        </p:nvSpPr>
        <p:spPr>
          <a:xfrm>
            <a:off x="5615947" y="2431918"/>
            <a:ext cx="5088300" cy="552300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g31e2bc6d316_0_24"/>
          <p:cNvSpPr txBox="1"/>
          <p:nvPr/>
        </p:nvSpPr>
        <p:spPr>
          <a:xfrm>
            <a:off x="5663952" y="2489590"/>
            <a:ext cx="5472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Location of your Cooja simulator</a:t>
            </a:r>
            <a:endParaRPr sz="2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6" name="Google Shape;526;g31e2bc6d316_0_24"/>
          <p:cNvCxnSpPr>
            <a:stCxn id="524" idx="1"/>
          </p:cNvCxnSpPr>
          <p:nvPr/>
        </p:nvCxnSpPr>
        <p:spPr>
          <a:xfrm flipH="1">
            <a:off x="4119547" y="2708068"/>
            <a:ext cx="1496400" cy="900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7" name="Google Shape;527;g31e2bc6d316_0_24"/>
          <p:cNvCxnSpPr/>
          <p:nvPr/>
        </p:nvCxnSpPr>
        <p:spPr>
          <a:xfrm flipH="1">
            <a:off x="7474263" y="4077072"/>
            <a:ext cx="1851900" cy="183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8" name="Google Shape;528;g31e2bc6d316_0_24"/>
          <p:cNvSpPr/>
          <p:nvPr/>
        </p:nvSpPr>
        <p:spPr>
          <a:xfrm>
            <a:off x="9326163" y="3739092"/>
            <a:ext cx="1522500" cy="552300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SG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 run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g31e2bc6d316_0_24"/>
          <p:cNvSpPr txBox="1"/>
          <p:nvPr/>
        </p:nvSpPr>
        <p:spPr>
          <a:xfrm>
            <a:off x="0" y="0"/>
            <a:ext cx="6808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to start Cooja?</a:t>
            </a:r>
            <a:endParaRPr sz="3300"/>
          </a:p>
        </p:txBody>
      </p:sp>
      <p:cxnSp>
        <p:nvCxnSpPr>
          <p:cNvPr id="530" name="Google Shape;530;g31e2bc6d316_0_24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31" name="Google Shape;531;g31e2bc6d316_0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1e2bc6d316_0_37"/>
          <p:cNvSpPr txBox="1"/>
          <p:nvPr>
            <p:ph idx="1" type="body"/>
          </p:nvPr>
        </p:nvSpPr>
        <p:spPr>
          <a:xfrm>
            <a:off x="143339" y="1124744"/>
            <a:ext cx="11905200" cy="51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-43180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SG" sz="2000"/>
              <a:t>First interface after the starting of the simulator</a:t>
            </a:r>
            <a:endParaRPr sz="2000"/>
          </a:p>
        </p:txBody>
      </p:sp>
      <p:pic>
        <p:nvPicPr>
          <p:cNvPr id="537" name="Google Shape;537;g31e2bc6d316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260" y="1979395"/>
            <a:ext cx="10190923" cy="4154673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g31e2bc6d316_0_37"/>
          <p:cNvSpPr/>
          <p:nvPr/>
        </p:nvSpPr>
        <p:spPr>
          <a:xfrm>
            <a:off x="1211611" y="3780359"/>
            <a:ext cx="9701700" cy="1332300"/>
          </a:xfrm>
          <a:prstGeom prst="rect">
            <a:avLst/>
          </a:prstGeom>
          <a:solidFill>
            <a:schemeClr val="lt2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1e2bc6d316_0_37"/>
          <p:cNvSpPr txBox="1"/>
          <p:nvPr/>
        </p:nvSpPr>
        <p:spPr>
          <a:xfrm>
            <a:off x="1295467" y="3912384"/>
            <a:ext cx="94563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-361950" lvl="0" marL="3810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•"/>
            </a:pPr>
            <a:r>
              <a:rPr lang="en-SG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the “File” Tab, “Create a new simulation” option is available, which needs to be done first</a:t>
            </a:r>
            <a:endParaRPr sz="2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810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•"/>
            </a:pPr>
            <a:r>
              <a:rPr lang="en-SG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One can upload the previously stored simulation using the same “File” Tab</a:t>
            </a:r>
            <a:endParaRPr sz="2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0" name="Google Shape;540;g31e2bc6d316_0_37"/>
          <p:cNvCxnSpPr/>
          <p:nvPr/>
        </p:nvCxnSpPr>
        <p:spPr>
          <a:xfrm rot="10800000">
            <a:off x="1295520" y="2424360"/>
            <a:ext cx="480000" cy="13560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541" name="Google Shape;541;g31e2bc6d316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g31e2bc6d316_0_4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6840" l="29840" r="25799" t="31558"/>
          <a:stretch/>
        </p:blipFill>
        <p:spPr>
          <a:xfrm>
            <a:off x="-1" y="1556792"/>
            <a:ext cx="7644300" cy="399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g31e2bc6d316_0_45"/>
          <p:cNvSpPr/>
          <p:nvPr/>
        </p:nvSpPr>
        <p:spPr>
          <a:xfrm>
            <a:off x="6283611" y="4607467"/>
            <a:ext cx="1018500" cy="5961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1e2bc6d316_0_45"/>
          <p:cNvSpPr/>
          <p:nvPr/>
        </p:nvSpPr>
        <p:spPr>
          <a:xfrm>
            <a:off x="7929413" y="1916056"/>
            <a:ext cx="3893100" cy="3287100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g31e2bc6d316_0_45"/>
          <p:cNvSpPr txBox="1"/>
          <p:nvPr/>
        </p:nvSpPr>
        <p:spPr>
          <a:xfrm>
            <a:off x="8246993" y="4690060"/>
            <a:ext cx="3258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create the simulation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31e2bc6d316_0_45"/>
          <p:cNvSpPr txBox="1"/>
          <p:nvPr/>
        </p:nvSpPr>
        <p:spPr>
          <a:xfrm>
            <a:off x="7929413" y="2887696"/>
            <a:ext cx="3665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Select radio medium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alibri"/>
              <a:buAutoNum type="arabicPeriod"/>
            </a:pPr>
            <a:r>
              <a:rPr lang="en-SG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UDGM</a:t>
            </a:r>
            <a:endParaRPr sz="1500"/>
          </a:p>
          <a:p>
            <a:pPr indent="-431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alibri"/>
              <a:buAutoNum type="arabicPeriod"/>
            </a:pPr>
            <a:r>
              <a:rPr lang="en-SG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MRM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MRM gives more realistic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environment for simulation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1e2bc6d316_0_45"/>
          <p:cNvSpPr txBox="1"/>
          <p:nvPr/>
        </p:nvSpPr>
        <p:spPr>
          <a:xfrm>
            <a:off x="7884313" y="2172139"/>
            <a:ext cx="2398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Simulation Name</a:t>
            </a:r>
            <a:endParaRPr sz="2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2" name="Google Shape;552;g31e2bc6d316_0_45"/>
          <p:cNvCxnSpPr>
            <a:stCxn id="551" idx="1"/>
          </p:cNvCxnSpPr>
          <p:nvPr/>
        </p:nvCxnSpPr>
        <p:spPr>
          <a:xfrm rot="10800000">
            <a:off x="4368013" y="2395339"/>
            <a:ext cx="35163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3" name="Google Shape;553;g31e2bc6d316_0_45"/>
          <p:cNvCxnSpPr/>
          <p:nvPr/>
        </p:nvCxnSpPr>
        <p:spPr>
          <a:xfrm rot="10800000">
            <a:off x="7055900" y="3068960"/>
            <a:ext cx="9705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4" name="Google Shape;554;g31e2bc6d316_0_45"/>
          <p:cNvCxnSpPr/>
          <p:nvPr/>
        </p:nvCxnSpPr>
        <p:spPr>
          <a:xfrm rot="10800000">
            <a:off x="7278913" y="4958273"/>
            <a:ext cx="9705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5" name="Google Shape;555;g31e2bc6d316_0_45"/>
          <p:cNvSpPr txBox="1"/>
          <p:nvPr/>
        </p:nvSpPr>
        <p:spPr>
          <a:xfrm>
            <a:off x="0" y="0"/>
            <a:ext cx="8026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Create a new Simulation</a:t>
            </a:r>
            <a:endParaRPr sz="3300"/>
          </a:p>
        </p:txBody>
      </p:sp>
      <p:cxnSp>
        <p:nvCxnSpPr>
          <p:cNvPr id="556" name="Google Shape;556;g31e2bc6d316_0_45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57" name="Google Shape;557;g31e2bc6d316_0_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1e2bc6d316_0_59"/>
          <p:cNvSpPr txBox="1"/>
          <p:nvPr>
            <p:ph idx="1" type="body"/>
          </p:nvPr>
        </p:nvSpPr>
        <p:spPr>
          <a:xfrm>
            <a:off x="143339" y="1124744"/>
            <a:ext cx="11905200" cy="51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t/>
            </a:r>
            <a:endParaRPr sz="2500"/>
          </a:p>
        </p:txBody>
      </p:sp>
      <p:pic>
        <p:nvPicPr>
          <p:cNvPr id="563" name="Google Shape;563;g31e2bc6d316_0_59"/>
          <p:cNvPicPr preferRelativeResize="0"/>
          <p:nvPr/>
        </p:nvPicPr>
        <p:blipFill rotWithShape="1">
          <a:blip r:embed="rId3">
            <a:alphaModFix/>
          </a:blip>
          <a:srcRect b="0" l="4324" r="13775" t="0"/>
          <a:stretch/>
        </p:blipFill>
        <p:spPr>
          <a:xfrm>
            <a:off x="184125" y="1078275"/>
            <a:ext cx="12007874" cy="5231046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g31e2bc6d316_0_59"/>
          <p:cNvSpPr/>
          <p:nvPr/>
        </p:nvSpPr>
        <p:spPr>
          <a:xfrm>
            <a:off x="335360" y="2016090"/>
            <a:ext cx="4032300" cy="1917300"/>
          </a:xfrm>
          <a:prstGeom prst="roundRect">
            <a:avLst>
              <a:gd fmla="val 16667" name="adj"/>
            </a:avLst>
          </a:prstGeom>
          <a:solidFill>
            <a:srgbClr val="DDD9C3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g31e2bc6d316_0_59"/>
          <p:cNvSpPr txBox="1"/>
          <p:nvPr/>
        </p:nvSpPr>
        <p:spPr>
          <a:xfrm>
            <a:off x="335360" y="2112670"/>
            <a:ext cx="41940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-336550" lvl="0" marL="3810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Arial"/>
              <a:buChar char="•"/>
            </a:pPr>
            <a:r>
              <a:rPr lang="en-SG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Motes (nodes) are shown in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this window</a:t>
            </a:r>
            <a:endParaRPr sz="1200"/>
          </a:p>
          <a:p>
            <a:pPr indent="-336550" lvl="0" marL="38100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700"/>
              <a:buFont typeface="Arial"/>
              <a:buChar char="•"/>
            </a:pPr>
            <a:r>
              <a:rPr lang="en-SG" sz="17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Motes can be arranged as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7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      per desired topology</a:t>
            </a:r>
            <a:endParaRPr sz="1200"/>
          </a:p>
          <a:p>
            <a:pPr indent="-336550" lvl="0" marL="3810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Arial"/>
              <a:buChar char="•"/>
            </a:pPr>
            <a:r>
              <a:rPr lang="en-SG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Radio range of the motes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can be adjusted here.</a:t>
            </a:r>
            <a:endParaRPr sz="1200"/>
          </a:p>
          <a:p>
            <a:pPr indent="-228600" lvl="0" marL="381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1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1e2bc6d316_0_59"/>
          <p:cNvSpPr/>
          <p:nvPr/>
        </p:nvSpPr>
        <p:spPr>
          <a:xfrm>
            <a:off x="1939635" y="5589239"/>
            <a:ext cx="6798000" cy="64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g31e2bc6d316_0_59"/>
          <p:cNvSpPr txBox="1"/>
          <p:nvPr/>
        </p:nvSpPr>
        <p:spPr>
          <a:xfrm>
            <a:off x="2091175" y="5589239"/>
            <a:ext cx="6117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window shows the timeline of the motes; shows communication events</a:t>
            </a:r>
            <a:endParaRPr sz="1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81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1e2bc6d316_0_59"/>
          <p:cNvSpPr/>
          <p:nvPr/>
        </p:nvSpPr>
        <p:spPr>
          <a:xfrm>
            <a:off x="4809252" y="2984316"/>
            <a:ext cx="6798000" cy="804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1e2bc6d316_0_59"/>
          <p:cNvSpPr txBox="1"/>
          <p:nvPr/>
        </p:nvSpPr>
        <p:spPr>
          <a:xfrm>
            <a:off x="4851716" y="3047841"/>
            <a:ext cx="6646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window shows each and every activities of each motes; printouts serial port  information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81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1e2bc6d316_0_59"/>
          <p:cNvSpPr/>
          <p:nvPr/>
        </p:nvSpPr>
        <p:spPr>
          <a:xfrm>
            <a:off x="4529244" y="1700808"/>
            <a:ext cx="2910900" cy="4119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g31e2bc6d316_0_59"/>
          <p:cNvSpPr/>
          <p:nvPr/>
        </p:nvSpPr>
        <p:spPr>
          <a:xfrm>
            <a:off x="8214103" y="1515808"/>
            <a:ext cx="2478000" cy="804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Simulation Control area</a:t>
            </a:r>
            <a:endParaRPr sz="2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2" name="Google Shape;572;g31e2bc6d316_0_59"/>
          <p:cNvCxnSpPr/>
          <p:nvPr/>
        </p:nvCxnSpPr>
        <p:spPr>
          <a:xfrm flipH="1">
            <a:off x="7481035" y="1920712"/>
            <a:ext cx="727200" cy="183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3" name="Google Shape;573;g31e2bc6d316_0_59"/>
          <p:cNvSpPr txBox="1"/>
          <p:nvPr/>
        </p:nvSpPr>
        <p:spPr>
          <a:xfrm>
            <a:off x="0" y="0"/>
            <a:ext cx="7953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Basic Simulation Interface</a:t>
            </a:r>
            <a:endParaRPr sz="3300"/>
          </a:p>
        </p:txBody>
      </p:sp>
      <p:cxnSp>
        <p:nvCxnSpPr>
          <p:cNvPr id="574" name="Google Shape;574;g31e2bc6d316_0_59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5" name="Google Shape;575;g31e2bc6d316_0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1e2bc6d316_0_75"/>
          <p:cNvSpPr txBox="1"/>
          <p:nvPr>
            <p:ph idx="1" type="body"/>
          </p:nvPr>
        </p:nvSpPr>
        <p:spPr>
          <a:xfrm>
            <a:off x="143400" y="1080502"/>
            <a:ext cx="11905200" cy="29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-43815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SG" sz="2100"/>
              <a:t>Before simulation, </a:t>
            </a:r>
            <a:r>
              <a:rPr lang="en-SG" sz="2100">
                <a:solidFill>
                  <a:srgbClr val="FF0000"/>
                </a:solidFill>
              </a:rPr>
              <a:t>motes </a:t>
            </a:r>
            <a:r>
              <a:rPr lang="en-SG" sz="2100"/>
              <a:t>need to be </a:t>
            </a:r>
            <a:r>
              <a:rPr lang="en-SG" sz="2100">
                <a:solidFill>
                  <a:srgbClr val="FF0000"/>
                </a:solidFill>
              </a:rPr>
              <a:t>added</a:t>
            </a:r>
            <a:endParaRPr sz="2100"/>
          </a:p>
          <a:p>
            <a:pPr indent="-43815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SG" sz="2100"/>
              <a:t>In the “</a:t>
            </a:r>
            <a:r>
              <a:rPr lang="en-SG" sz="2100">
                <a:solidFill>
                  <a:srgbClr val="FF0000"/>
                </a:solidFill>
              </a:rPr>
              <a:t>Motes</a:t>
            </a:r>
            <a:r>
              <a:rPr lang="en-SG" sz="2100"/>
              <a:t>”</a:t>
            </a:r>
            <a:r>
              <a:rPr lang="en-SG" sz="2100">
                <a:solidFill>
                  <a:srgbClr val="FF0000"/>
                </a:solidFill>
              </a:rPr>
              <a:t> </a:t>
            </a:r>
            <a:r>
              <a:rPr lang="en-SG" sz="2100"/>
              <a:t>tab,</a:t>
            </a:r>
            <a:r>
              <a:rPr lang="en-SG" sz="2100">
                <a:solidFill>
                  <a:srgbClr val="FF0000"/>
                </a:solidFill>
              </a:rPr>
              <a:t> </a:t>
            </a:r>
            <a:r>
              <a:rPr lang="en-SG" sz="2100"/>
              <a:t>click on “</a:t>
            </a:r>
            <a:r>
              <a:rPr lang="en-SG" sz="2100">
                <a:solidFill>
                  <a:srgbClr val="FF0000"/>
                </a:solidFill>
              </a:rPr>
              <a:t>Add motes</a:t>
            </a:r>
            <a:r>
              <a:rPr lang="en-SG" sz="2100"/>
              <a:t>” </a:t>
            </a:r>
            <a:endParaRPr sz="2100"/>
          </a:p>
          <a:p>
            <a:pPr indent="-43815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SG" sz="2100"/>
              <a:t>Next, click on “</a:t>
            </a:r>
            <a:r>
              <a:rPr lang="en-SG" sz="2100">
                <a:solidFill>
                  <a:srgbClr val="FF0000"/>
                </a:solidFill>
              </a:rPr>
              <a:t>Create new mote type” </a:t>
            </a:r>
            <a:r>
              <a:rPr lang="en-SG" sz="2100"/>
              <a:t>and select the desired available mote  (e.g., </a:t>
            </a:r>
            <a:r>
              <a:rPr lang="en-SG" sz="2100">
                <a:solidFill>
                  <a:srgbClr val="FF0000"/>
                </a:solidFill>
              </a:rPr>
              <a:t>Cooja mote, sky mote</a:t>
            </a:r>
            <a:r>
              <a:rPr lang="en-SG" sz="2100"/>
              <a:t>)</a:t>
            </a:r>
            <a:endParaRPr sz="2100"/>
          </a:p>
          <a:p>
            <a:pPr indent="-43815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SG" sz="2100"/>
              <a:t>Better to use “</a:t>
            </a:r>
            <a:r>
              <a:rPr lang="en-SG" sz="2100">
                <a:solidFill>
                  <a:srgbClr val="FF0000"/>
                </a:solidFill>
              </a:rPr>
              <a:t>Cooja”</a:t>
            </a:r>
            <a:r>
              <a:rPr lang="en-SG" sz="2100"/>
              <a:t> mote on </a:t>
            </a:r>
            <a:r>
              <a:rPr lang="en-SG" sz="2100">
                <a:solidFill>
                  <a:srgbClr val="FF0000"/>
                </a:solidFill>
              </a:rPr>
              <a:t>low configuration system</a:t>
            </a:r>
            <a:endParaRPr sz="2100">
              <a:solidFill>
                <a:srgbClr val="FF0000"/>
              </a:solidFill>
            </a:endParaRPr>
          </a:p>
        </p:txBody>
      </p:sp>
      <p:pic>
        <p:nvPicPr>
          <p:cNvPr id="581" name="Google Shape;581;g31e2bc6d316_0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365" y="3861048"/>
            <a:ext cx="10261167" cy="2623684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g31e2bc6d316_0_75"/>
          <p:cNvSpPr txBox="1"/>
          <p:nvPr/>
        </p:nvSpPr>
        <p:spPr>
          <a:xfrm>
            <a:off x="0" y="0"/>
            <a:ext cx="102612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to add motes (nodes)?</a:t>
            </a:r>
            <a:endParaRPr sz="3300"/>
          </a:p>
        </p:txBody>
      </p:sp>
      <p:cxnSp>
        <p:nvCxnSpPr>
          <p:cNvPr id="583" name="Google Shape;583;g31e2bc6d316_0_75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84" name="Google Shape;584;g31e2bc6d316_0_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1e2bc6d316_0_82"/>
          <p:cNvSpPr txBox="1"/>
          <p:nvPr>
            <p:ph idx="1" type="body"/>
          </p:nvPr>
        </p:nvSpPr>
        <p:spPr>
          <a:xfrm>
            <a:off x="143339" y="1124744"/>
            <a:ext cx="11905200" cy="51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Noto Sans Symbols"/>
              <a:buChar char="●"/>
            </a:pPr>
            <a:r>
              <a:rPr lang="en-SG" sz="2100">
                <a:solidFill>
                  <a:srgbClr val="FF0000"/>
                </a:solidFill>
              </a:rPr>
              <a:t>Browse</a:t>
            </a:r>
            <a:r>
              <a:rPr lang="en-SG" sz="2100"/>
              <a:t> the </a:t>
            </a:r>
            <a:r>
              <a:rPr lang="en-SG" sz="2100">
                <a:solidFill>
                  <a:srgbClr val="FF0000"/>
                </a:solidFill>
              </a:rPr>
              <a:t>source file </a:t>
            </a:r>
            <a:r>
              <a:rPr lang="en-SG" sz="2100"/>
              <a:t>that you want to simulate</a:t>
            </a:r>
            <a:endParaRPr sz="2100"/>
          </a:p>
          <a:p>
            <a:pPr indent="-38735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</a:pPr>
            <a:r>
              <a:rPr lang="en-SG" sz="2100"/>
              <a:t>In the “</a:t>
            </a:r>
            <a:r>
              <a:rPr lang="en-SG" sz="2100">
                <a:solidFill>
                  <a:srgbClr val="FF0000"/>
                </a:solidFill>
              </a:rPr>
              <a:t>example</a:t>
            </a:r>
            <a:r>
              <a:rPr lang="en-SG" sz="2100"/>
              <a:t>” folder of Contiki-NG, various source files are available</a:t>
            </a:r>
            <a:endParaRPr sz="2100"/>
          </a:p>
          <a:p>
            <a:pPr indent="-38735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</a:pPr>
            <a:r>
              <a:rPr lang="en-SG" sz="2100"/>
              <a:t>Select the “</a:t>
            </a:r>
            <a:r>
              <a:rPr lang="en-SG" sz="2100">
                <a:solidFill>
                  <a:srgbClr val="FF0000"/>
                </a:solidFill>
              </a:rPr>
              <a:t>node.c</a:t>
            </a:r>
            <a:r>
              <a:rPr lang="en-SG" sz="2100"/>
              <a:t>” file to </a:t>
            </a:r>
            <a:r>
              <a:rPr lang="en-SG" sz="2100">
                <a:solidFill>
                  <a:srgbClr val="0033CC"/>
                </a:solidFill>
              </a:rPr>
              <a:t>compile</a:t>
            </a:r>
            <a:r>
              <a:rPr lang="en-SG" sz="2100"/>
              <a:t> and then </a:t>
            </a:r>
            <a:r>
              <a:rPr lang="en-SG" sz="2100">
                <a:solidFill>
                  <a:srgbClr val="0033CC"/>
                </a:solidFill>
              </a:rPr>
              <a:t>simulate</a:t>
            </a:r>
            <a:r>
              <a:rPr lang="en-SG" sz="2100"/>
              <a:t> </a:t>
            </a:r>
            <a:endParaRPr sz="2100"/>
          </a:p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100"/>
          </a:p>
        </p:txBody>
      </p:sp>
      <p:sp>
        <p:nvSpPr>
          <p:cNvPr id="590" name="Google Shape;590;g31e2bc6d316_0_82"/>
          <p:cNvSpPr/>
          <p:nvPr/>
        </p:nvSpPr>
        <p:spPr>
          <a:xfrm rot="5400000">
            <a:off x="7918469" y="3093020"/>
            <a:ext cx="216000" cy="1248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1" name="Google Shape;591;g31e2bc6d316_0_82"/>
          <p:cNvPicPr preferRelativeResize="0"/>
          <p:nvPr/>
        </p:nvPicPr>
        <p:blipFill rotWithShape="1">
          <a:blip r:embed="rId3">
            <a:alphaModFix/>
          </a:blip>
          <a:srcRect b="12298" l="22051" r="16523" t="26877"/>
          <a:stretch/>
        </p:blipFill>
        <p:spPr>
          <a:xfrm>
            <a:off x="688717" y="3501007"/>
            <a:ext cx="9505055" cy="3019252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g31e2bc6d316_0_82"/>
          <p:cNvSpPr/>
          <p:nvPr/>
        </p:nvSpPr>
        <p:spPr>
          <a:xfrm>
            <a:off x="5093876" y="5010634"/>
            <a:ext cx="2112300" cy="576000"/>
          </a:xfrm>
          <a:prstGeom prst="roundRect">
            <a:avLst>
              <a:gd fmla="val 16667" name="adj"/>
            </a:avLst>
          </a:prstGeom>
          <a:solidFill>
            <a:srgbClr val="DDD9C3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Source File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3" name="Google Shape;593;g31e2bc6d316_0_82"/>
          <p:cNvCxnSpPr>
            <a:stCxn id="592" idx="1"/>
          </p:cNvCxnSpPr>
          <p:nvPr/>
        </p:nvCxnSpPr>
        <p:spPr>
          <a:xfrm rot="10800000">
            <a:off x="3119576" y="5085034"/>
            <a:ext cx="1974300" cy="2136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4" name="Google Shape;594;g31e2bc6d316_0_82"/>
          <p:cNvSpPr/>
          <p:nvPr/>
        </p:nvSpPr>
        <p:spPr>
          <a:xfrm>
            <a:off x="5999989" y="6054749"/>
            <a:ext cx="960000" cy="3600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31e2bc6d316_0_82"/>
          <p:cNvSpPr txBox="1"/>
          <p:nvPr/>
        </p:nvSpPr>
        <p:spPr>
          <a:xfrm>
            <a:off x="0" y="0"/>
            <a:ext cx="7402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Select the source file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6" name="Google Shape;596;g31e2bc6d316_0_82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7" name="Google Shape;597;g31e2bc6d316_0_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1e2bc6d316_0_93"/>
          <p:cNvSpPr txBox="1"/>
          <p:nvPr>
            <p:ph idx="1" type="body"/>
          </p:nvPr>
        </p:nvSpPr>
        <p:spPr>
          <a:xfrm>
            <a:off x="143339" y="1124744"/>
            <a:ext cx="11905200" cy="51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rgbClr val="FF0000"/>
              </a:solidFill>
            </a:endParaRPr>
          </a:p>
        </p:txBody>
      </p:sp>
      <p:pic>
        <p:nvPicPr>
          <p:cNvPr id="603" name="Google Shape;603;g31e2bc6d316_0_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279" y="1058167"/>
            <a:ext cx="11716589" cy="546186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g31e2bc6d316_0_93"/>
          <p:cNvSpPr/>
          <p:nvPr/>
        </p:nvSpPr>
        <p:spPr>
          <a:xfrm>
            <a:off x="2831637" y="4365308"/>
            <a:ext cx="2099700" cy="720000"/>
          </a:xfrm>
          <a:prstGeom prst="round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Motes activity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g31e2bc6d316_0_93"/>
          <p:cNvSpPr/>
          <p:nvPr/>
        </p:nvSpPr>
        <p:spPr>
          <a:xfrm>
            <a:off x="6384032" y="5517232"/>
            <a:ext cx="1344000" cy="10029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g31e2bc6d316_0_93"/>
          <p:cNvSpPr/>
          <p:nvPr/>
        </p:nvSpPr>
        <p:spPr>
          <a:xfrm>
            <a:off x="6522595" y="4221497"/>
            <a:ext cx="2586000" cy="720000"/>
          </a:xfrm>
          <a:prstGeom prst="round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Event timeline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7" name="Google Shape;607;g31e2bc6d316_0_93"/>
          <p:cNvCxnSpPr/>
          <p:nvPr/>
        </p:nvCxnSpPr>
        <p:spPr>
          <a:xfrm flipH="1" rot="10800000">
            <a:off x="4559829" y="3715437"/>
            <a:ext cx="1461600" cy="8661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8" name="Google Shape;608;g31e2bc6d316_0_93"/>
          <p:cNvCxnSpPr/>
          <p:nvPr/>
        </p:nvCxnSpPr>
        <p:spPr>
          <a:xfrm flipH="1" rot="10800000">
            <a:off x="7056107" y="4810737"/>
            <a:ext cx="970500" cy="6975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9" name="Google Shape;609;g31e2bc6d316_0_93"/>
          <p:cNvSpPr txBox="1"/>
          <p:nvPr/>
        </p:nvSpPr>
        <p:spPr>
          <a:xfrm>
            <a:off x="0" y="0"/>
            <a:ext cx="10488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Interface during simulation-1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0" name="Google Shape;610;g31e2bc6d316_0_93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11" name="Google Shape;611;g31e2bc6d316_0_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g31e2bc6d316_0_10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416" y="1073487"/>
            <a:ext cx="11617200" cy="561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g31e2bc6d316_0_105"/>
          <p:cNvSpPr/>
          <p:nvPr/>
        </p:nvSpPr>
        <p:spPr>
          <a:xfrm>
            <a:off x="7237104" y="4998246"/>
            <a:ext cx="4320300" cy="983700"/>
          </a:xfrm>
          <a:prstGeom prst="round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Radio duty cycles of nodes in different radio states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Under “Tool” tab, it is available</a:t>
            </a:r>
            <a:endParaRPr sz="1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g31e2bc6d316_0_105"/>
          <p:cNvSpPr/>
          <p:nvPr/>
        </p:nvSpPr>
        <p:spPr>
          <a:xfrm>
            <a:off x="332459" y="4267996"/>
            <a:ext cx="1731300" cy="720000"/>
          </a:xfrm>
          <a:prstGeom prst="round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sz="2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g31e2bc6d316_0_105"/>
          <p:cNvSpPr/>
          <p:nvPr/>
        </p:nvSpPr>
        <p:spPr>
          <a:xfrm>
            <a:off x="4367808" y="2348880"/>
            <a:ext cx="576000" cy="3600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1e2bc6d316_0_105"/>
          <p:cNvSpPr/>
          <p:nvPr/>
        </p:nvSpPr>
        <p:spPr>
          <a:xfrm>
            <a:off x="2928479" y="4217061"/>
            <a:ext cx="3739500" cy="1002000"/>
          </a:xfrm>
          <a:prstGeom prst="round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Saving option for nodes activities logfile under the “File” tab</a:t>
            </a:r>
            <a:endParaRPr sz="2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1" name="Google Shape;621;g31e2bc6d316_0_105"/>
          <p:cNvCxnSpPr>
            <a:endCxn id="619" idx="3"/>
          </p:cNvCxnSpPr>
          <p:nvPr/>
        </p:nvCxnSpPr>
        <p:spPr>
          <a:xfrm flipH="1" rot="10800000">
            <a:off x="4165661" y="2656159"/>
            <a:ext cx="286500" cy="15609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2" name="Google Shape;622;g31e2bc6d316_0_105"/>
          <p:cNvSpPr/>
          <p:nvPr/>
        </p:nvSpPr>
        <p:spPr>
          <a:xfrm>
            <a:off x="177112" y="5358286"/>
            <a:ext cx="576000" cy="3600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3" name="Google Shape;623;g31e2bc6d316_0_105"/>
          <p:cNvCxnSpPr/>
          <p:nvPr/>
        </p:nvCxnSpPr>
        <p:spPr>
          <a:xfrm flipH="1" rot="10800000">
            <a:off x="658019" y="4993016"/>
            <a:ext cx="2270400" cy="4599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4" name="Google Shape;624;g31e2bc6d316_0_105"/>
          <p:cNvCxnSpPr/>
          <p:nvPr/>
        </p:nvCxnSpPr>
        <p:spPr>
          <a:xfrm flipH="1" rot="10800000">
            <a:off x="999053" y="3691769"/>
            <a:ext cx="361500" cy="6129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5" name="Google Shape;625;g31e2bc6d316_0_105"/>
          <p:cNvCxnSpPr/>
          <p:nvPr/>
        </p:nvCxnSpPr>
        <p:spPr>
          <a:xfrm rot="10800000">
            <a:off x="8938257" y="3998136"/>
            <a:ext cx="153300" cy="10080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6" name="Google Shape;626;g31e2bc6d316_0_105"/>
          <p:cNvSpPr/>
          <p:nvPr/>
        </p:nvSpPr>
        <p:spPr>
          <a:xfrm>
            <a:off x="431477" y="2729415"/>
            <a:ext cx="567600" cy="4128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g31e2bc6d316_0_105"/>
          <p:cNvSpPr/>
          <p:nvPr/>
        </p:nvSpPr>
        <p:spPr>
          <a:xfrm>
            <a:off x="3811133" y="1501282"/>
            <a:ext cx="567600" cy="4128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8" name="Google Shape;628;g31e2bc6d316_0_105"/>
          <p:cNvCxnSpPr/>
          <p:nvPr/>
        </p:nvCxnSpPr>
        <p:spPr>
          <a:xfrm flipH="1" rot="10800000">
            <a:off x="1013881" y="1704143"/>
            <a:ext cx="2866800" cy="10428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9" name="Google Shape;629;g31e2bc6d316_0_105"/>
          <p:cNvCxnSpPr>
            <a:stCxn id="627" idx="3"/>
          </p:cNvCxnSpPr>
          <p:nvPr/>
        </p:nvCxnSpPr>
        <p:spPr>
          <a:xfrm flipH="1">
            <a:off x="1000156" y="1853629"/>
            <a:ext cx="2894100" cy="10443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0" name="Google Shape;630;g31e2bc6d316_0_105"/>
          <p:cNvSpPr/>
          <p:nvPr/>
        </p:nvSpPr>
        <p:spPr>
          <a:xfrm rot="-1243013">
            <a:off x="1045976" y="2464144"/>
            <a:ext cx="2952082" cy="943304"/>
          </a:xfrm>
          <a:prstGeom prst="round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Nodes can change their positions to anywhere</a:t>
            </a:r>
            <a:endParaRPr sz="1600"/>
          </a:p>
        </p:txBody>
      </p:sp>
      <p:sp>
        <p:nvSpPr>
          <p:cNvPr id="631" name="Google Shape;631;g31e2bc6d316_0_105"/>
          <p:cNvSpPr txBox="1"/>
          <p:nvPr/>
        </p:nvSpPr>
        <p:spPr>
          <a:xfrm>
            <a:off x="0" y="0"/>
            <a:ext cx="111273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Interface during simulation-2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2" name="Google Shape;632;g31e2bc6d316_0_105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33" name="Google Shape;633;g31e2bc6d316_0_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g31e2bc6d316_0_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576" y="1116339"/>
            <a:ext cx="11607216" cy="2752858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g31e2bc6d316_0_125"/>
          <p:cNvSpPr/>
          <p:nvPr/>
        </p:nvSpPr>
        <p:spPr>
          <a:xfrm>
            <a:off x="4682797" y="4331777"/>
            <a:ext cx="2390100" cy="983700"/>
          </a:xfrm>
          <a:prstGeom prst="round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Implementation of the IoT protocol stack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0" name="Google Shape;640;g31e2bc6d316_0_125"/>
          <p:cNvCxnSpPr/>
          <p:nvPr/>
        </p:nvCxnSpPr>
        <p:spPr>
          <a:xfrm rot="10800000">
            <a:off x="4828043" y="2068467"/>
            <a:ext cx="434100" cy="22284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1" name="Google Shape;641;g31e2bc6d316_0_125"/>
          <p:cNvSpPr txBox="1"/>
          <p:nvPr/>
        </p:nvSpPr>
        <p:spPr>
          <a:xfrm>
            <a:off x="0" y="0"/>
            <a:ext cx="9231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File Organization in Contiki-NG</a:t>
            </a:r>
            <a:endParaRPr sz="3300"/>
          </a:p>
        </p:txBody>
      </p:sp>
      <p:cxnSp>
        <p:nvCxnSpPr>
          <p:cNvPr id="642" name="Google Shape;642;g31e2bc6d316_0_125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3" name="Google Shape;643;g31e2bc6d316_0_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Google Shape;648;g31e2bc6d316_0_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9349" y="1614820"/>
            <a:ext cx="7553325" cy="431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g31e2bc6d316_0_1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508" y="1271587"/>
            <a:ext cx="2166172" cy="1077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g31e2bc6d316_0_1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1e2bc6d316_0_147"/>
          <p:cNvSpPr txBox="1"/>
          <p:nvPr>
            <p:ph idx="1" type="body"/>
          </p:nvPr>
        </p:nvSpPr>
        <p:spPr>
          <a:xfrm>
            <a:off x="-21867" y="956067"/>
            <a:ext cx="12192000" cy="59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lang="en-SG" sz="2000">
                <a:solidFill>
                  <a:srgbClr val="FF0000"/>
                </a:solidFill>
              </a:rPr>
              <a:t>FIT IoT-LAB </a:t>
            </a:r>
            <a:r>
              <a:rPr lang="en-SG" sz="2000"/>
              <a:t>is a </a:t>
            </a:r>
            <a:r>
              <a:rPr lang="en-SG" sz="2000">
                <a:solidFill>
                  <a:srgbClr val="FF0000"/>
                </a:solidFill>
              </a:rPr>
              <a:t>real</a:t>
            </a:r>
            <a:r>
              <a:rPr lang="en-SG" sz="2000"/>
              <a:t> </a:t>
            </a:r>
            <a:r>
              <a:rPr lang="en-SG" sz="2000">
                <a:solidFill>
                  <a:schemeClr val="dk2"/>
                </a:solidFill>
              </a:rPr>
              <a:t>open source  </a:t>
            </a:r>
            <a:r>
              <a:rPr lang="en-SG" sz="2000">
                <a:solidFill>
                  <a:srgbClr val="FF0000"/>
                </a:solidFill>
              </a:rPr>
              <a:t>IoT Testbed, </a:t>
            </a:r>
            <a:r>
              <a:rPr lang="en-SG" sz="2000"/>
              <a:t>can be </a:t>
            </a:r>
            <a:r>
              <a:rPr lang="en-SG" sz="2000">
                <a:solidFill>
                  <a:srgbClr val="FF0000"/>
                </a:solidFill>
              </a:rPr>
              <a:t>accessible over </a:t>
            </a:r>
            <a:r>
              <a:rPr lang="en-SG" sz="2000">
                <a:solidFill>
                  <a:srgbClr val="0033CC"/>
                </a:solidFill>
              </a:rPr>
              <a:t>Internet</a:t>
            </a:r>
            <a:endParaRPr sz="2000"/>
          </a:p>
          <a:p>
            <a:pPr indent="-381000" lvl="1" marL="990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SG" sz="2000"/>
              <a:t>where, </a:t>
            </a:r>
            <a:r>
              <a:rPr lang="en-SG" sz="2000">
                <a:solidFill>
                  <a:srgbClr val="FF0000"/>
                </a:solidFill>
              </a:rPr>
              <a:t>real </a:t>
            </a:r>
            <a:r>
              <a:rPr lang="en-SG" sz="2000">
                <a:solidFill>
                  <a:srgbClr val="0033CC"/>
                </a:solidFill>
              </a:rPr>
              <a:t>physical</a:t>
            </a:r>
            <a:r>
              <a:rPr lang="en-SG" sz="2000">
                <a:solidFill>
                  <a:srgbClr val="FF0000"/>
                </a:solidFill>
              </a:rPr>
              <a:t> nodes </a:t>
            </a:r>
            <a:r>
              <a:rPr lang="en-SG" sz="2000"/>
              <a:t>are deployed</a:t>
            </a:r>
            <a:endParaRPr sz="2000"/>
          </a:p>
          <a:p>
            <a:pPr indent="-381000" lvl="1" marL="990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SG" sz="2000"/>
              <a:t>provides a very large scale infrastructure for testing</a:t>
            </a:r>
            <a:endParaRPr sz="2000"/>
          </a:p>
          <a:p>
            <a:pPr indent="-304800" lvl="2" marL="1524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SG" sz="2000"/>
              <a:t>small </a:t>
            </a:r>
            <a:r>
              <a:rPr lang="en-SG" sz="2000">
                <a:solidFill>
                  <a:srgbClr val="FF0000"/>
                </a:solidFill>
              </a:rPr>
              <a:t>wireless</a:t>
            </a:r>
            <a:r>
              <a:rPr lang="en-SG" sz="2000"/>
              <a:t> sensor devices </a:t>
            </a:r>
            <a:endParaRPr sz="2000"/>
          </a:p>
          <a:p>
            <a:pPr indent="-304800" lvl="2" marL="1524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SG" sz="2000"/>
              <a:t>and </a:t>
            </a:r>
            <a:r>
              <a:rPr lang="en-SG" sz="2000">
                <a:solidFill>
                  <a:srgbClr val="FF0000"/>
                </a:solidFill>
              </a:rPr>
              <a:t>heterogeneous</a:t>
            </a:r>
            <a:r>
              <a:rPr lang="en-SG" sz="2000"/>
              <a:t> communicating objects.</a:t>
            </a:r>
            <a:endParaRPr sz="2000"/>
          </a:p>
          <a:p>
            <a:pPr indent="-177800" lvl="2" marL="1524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t/>
            </a:r>
            <a:endParaRPr sz="2000"/>
          </a:p>
          <a:p>
            <a:pPr indent="-4191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SG" sz="2000"/>
              <a:t>FIT IoT-LAB features over </a:t>
            </a:r>
            <a:r>
              <a:rPr lang="en-SG" sz="2000">
                <a:solidFill>
                  <a:srgbClr val="FF0000"/>
                </a:solidFill>
              </a:rPr>
              <a:t>1500 wireless sensor nodes </a:t>
            </a:r>
            <a:r>
              <a:rPr lang="en-SG" sz="2000"/>
              <a:t>spread across </a:t>
            </a:r>
            <a:r>
              <a:rPr lang="en-SG" sz="2000">
                <a:solidFill>
                  <a:srgbClr val="FF0000"/>
                </a:solidFill>
              </a:rPr>
              <a:t>six </a:t>
            </a:r>
            <a:r>
              <a:rPr lang="en-SG" sz="2000"/>
              <a:t>different </a:t>
            </a:r>
            <a:r>
              <a:rPr lang="en-SG" sz="2000">
                <a:solidFill>
                  <a:srgbClr val="FF0000"/>
                </a:solidFill>
              </a:rPr>
              <a:t>sites</a:t>
            </a:r>
            <a:r>
              <a:rPr lang="en-SG" sz="2000"/>
              <a:t> in </a:t>
            </a:r>
            <a:r>
              <a:rPr lang="en-SG" sz="2000">
                <a:solidFill>
                  <a:srgbClr val="FF0000"/>
                </a:solidFill>
              </a:rPr>
              <a:t>France</a:t>
            </a:r>
            <a:r>
              <a:rPr lang="en-SG" sz="2000"/>
              <a:t>.</a:t>
            </a:r>
            <a:endParaRPr sz="2000"/>
          </a:p>
          <a:p>
            <a:pPr indent="-2921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t/>
            </a:r>
            <a:endParaRPr sz="2000"/>
          </a:p>
          <a:p>
            <a:pPr indent="-4191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SG" sz="2000"/>
              <a:t>Nodes are either </a:t>
            </a:r>
            <a:r>
              <a:rPr lang="en-SG" sz="2000">
                <a:solidFill>
                  <a:srgbClr val="FF0000"/>
                </a:solidFill>
              </a:rPr>
              <a:t>fixed</a:t>
            </a:r>
            <a:r>
              <a:rPr lang="en-SG" sz="2000"/>
              <a:t> or </a:t>
            </a:r>
            <a:r>
              <a:rPr lang="en-SG" sz="2000">
                <a:solidFill>
                  <a:srgbClr val="FF0000"/>
                </a:solidFill>
              </a:rPr>
              <a:t>mobile</a:t>
            </a:r>
            <a:r>
              <a:rPr lang="en-SG" sz="2000"/>
              <a:t> and can be allocated in various topologies throughout all sites</a:t>
            </a:r>
            <a:endParaRPr sz="2000"/>
          </a:p>
          <a:p>
            <a:pPr indent="-2921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t/>
            </a:r>
            <a:endParaRPr sz="2000"/>
          </a:p>
          <a:p>
            <a:pPr indent="-4191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SG" sz="2000"/>
              <a:t>Node are with different </a:t>
            </a:r>
            <a:r>
              <a:rPr lang="en-SG" sz="2000">
                <a:solidFill>
                  <a:srgbClr val="FF0000"/>
                </a:solidFill>
              </a:rPr>
              <a:t>processor architectures </a:t>
            </a:r>
            <a:r>
              <a:rPr lang="en-SG" sz="2000"/>
              <a:t>(</a:t>
            </a:r>
            <a:r>
              <a:rPr lang="en-SG" sz="2000">
                <a:solidFill>
                  <a:srgbClr val="FF0000"/>
                </a:solidFill>
              </a:rPr>
              <a:t>MSP430</a:t>
            </a:r>
            <a:r>
              <a:rPr lang="en-SG" sz="2000"/>
              <a:t>, </a:t>
            </a:r>
            <a:r>
              <a:rPr lang="en-SG" sz="2000">
                <a:solidFill>
                  <a:srgbClr val="FF0000"/>
                </a:solidFill>
              </a:rPr>
              <a:t>STM32</a:t>
            </a:r>
            <a:r>
              <a:rPr lang="en-SG" sz="2000"/>
              <a:t> and </a:t>
            </a:r>
            <a:r>
              <a:rPr lang="en-SG" sz="2000">
                <a:solidFill>
                  <a:srgbClr val="FF0000"/>
                </a:solidFill>
              </a:rPr>
              <a:t>Cortex-A8</a:t>
            </a:r>
            <a:r>
              <a:rPr lang="en-SG" sz="2000"/>
              <a:t>) and different </a:t>
            </a:r>
            <a:r>
              <a:rPr lang="en-SG" sz="2000">
                <a:solidFill>
                  <a:srgbClr val="FF0000"/>
                </a:solidFill>
              </a:rPr>
              <a:t>wireless chips </a:t>
            </a:r>
            <a:r>
              <a:rPr lang="en-SG" sz="2000"/>
              <a:t>(802.15.4 PHY @ </a:t>
            </a:r>
            <a:r>
              <a:rPr lang="en-SG" sz="2000">
                <a:solidFill>
                  <a:srgbClr val="FF0000"/>
                </a:solidFill>
              </a:rPr>
              <a:t>800 </a:t>
            </a:r>
            <a:r>
              <a:rPr lang="en-SG" sz="2000"/>
              <a:t>MHz or </a:t>
            </a:r>
            <a:r>
              <a:rPr lang="en-SG" sz="2000">
                <a:solidFill>
                  <a:srgbClr val="FF0000"/>
                </a:solidFill>
              </a:rPr>
              <a:t>2.4</a:t>
            </a:r>
            <a:r>
              <a:rPr lang="en-SG" sz="2000"/>
              <a:t> GHz)</a:t>
            </a:r>
            <a:endParaRPr sz="2000"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</a:pPr>
            <a:r>
              <a:t/>
            </a:r>
            <a:endParaRPr sz="2000"/>
          </a:p>
        </p:txBody>
      </p:sp>
      <p:sp>
        <p:nvSpPr>
          <p:cNvPr id="656" name="Google Shape;656;g31e2bc6d316_0_147"/>
          <p:cNvSpPr txBox="1"/>
          <p:nvPr/>
        </p:nvSpPr>
        <p:spPr>
          <a:xfrm>
            <a:off x="154233" y="0"/>
            <a:ext cx="7821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is FIT IoT-LAB?</a:t>
            </a:r>
            <a:endParaRPr sz="3300"/>
          </a:p>
        </p:txBody>
      </p:sp>
      <p:cxnSp>
        <p:nvCxnSpPr>
          <p:cNvPr id="657" name="Google Shape;657;g31e2bc6d316_0_147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58" name="Google Shape;658;g31e2bc6d316_0_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1e2bc6d316_0_153"/>
          <p:cNvSpPr txBox="1"/>
          <p:nvPr>
            <p:ph idx="1" type="body"/>
          </p:nvPr>
        </p:nvSpPr>
        <p:spPr>
          <a:xfrm>
            <a:off x="143339" y="1019914"/>
            <a:ext cx="12192000" cy="53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Char char="•"/>
            </a:pPr>
            <a:r>
              <a:rPr lang="en-SG" sz="2100">
                <a:solidFill>
                  <a:srgbClr val="FF0000"/>
                </a:solidFill>
              </a:rPr>
              <a:t>FIT IoT-LAB </a:t>
            </a:r>
            <a:r>
              <a:rPr lang="en-SG" sz="2100"/>
              <a:t>is available on </a:t>
            </a:r>
            <a:r>
              <a:rPr lang="en-SG" sz="2100" u="sng">
                <a:solidFill>
                  <a:schemeClr val="hlink"/>
                </a:solidFill>
                <a:hlinkClick r:id="rId3"/>
              </a:rPr>
              <a:t>https://www.iot-lab.info/</a:t>
            </a:r>
            <a:endParaRPr sz="2100"/>
          </a:p>
          <a:p>
            <a:pPr indent="-349250" lvl="0" marL="45720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SG" sz="2100"/>
              <a:t>To </a:t>
            </a:r>
            <a:r>
              <a:rPr lang="en-SG" sz="2100">
                <a:solidFill>
                  <a:srgbClr val="FF0000"/>
                </a:solidFill>
              </a:rPr>
              <a:t>access</a:t>
            </a:r>
            <a:r>
              <a:rPr lang="en-SG" sz="2100"/>
              <a:t> the testbed, one should  create his/her </a:t>
            </a:r>
            <a:r>
              <a:rPr lang="en-SG" sz="2100">
                <a:solidFill>
                  <a:srgbClr val="FF0000"/>
                </a:solidFill>
              </a:rPr>
              <a:t>account</a:t>
            </a:r>
            <a:r>
              <a:rPr lang="en-SG" sz="2100"/>
              <a:t> in FIT IoT-LAB </a:t>
            </a:r>
            <a:endParaRPr sz="2100"/>
          </a:p>
          <a:p>
            <a:pPr indent="-241300" lvl="0" marL="45720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t/>
            </a:r>
            <a:endParaRPr sz="2100"/>
          </a:p>
          <a:p>
            <a:pPr indent="-1905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</a:pPr>
            <a:r>
              <a:t/>
            </a:r>
            <a:endParaRPr sz="2100"/>
          </a:p>
        </p:txBody>
      </p:sp>
      <p:pic>
        <p:nvPicPr>
          <p:cNvPr id="664" name="Google Shape;664;g31e2bc6d316_0_1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7595" y="2492896"/>
            <a:ext cx="8201906" cy="3412113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g31e2bc6d316_0_153"/>
          <p:cNvSpPr/>
          <p:nvPr/>
        </p:nvSpPr>
        <p:spPr>
          <a:xfrm>
            <a:off x="4847861" y="5301208"/>
            <a:ext cx="4128300" cy="4320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g31e2bc6d316_0_153"/>
          <p:cNvSpPr txBox="1"/>
          <p:nvPr/>
        </p:nvSpPr>
        <p:spPr>
          <a:xfrm>
            <a:off x="0" y="0"/>
            <a:ext cx="9672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to access FIT IoT-LAB?</a:t>
            </a:r>
            <a:endParaRPr sz="3300"/>
          </a:p>
        </p:txBody>
      </p:sp>
      <p:cxnSp>
        <p:nvCxnSpPr>
          <p:cNvPr id="667" name="Google Shape;667;g31e2bc6d316_0_153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8" name="Google Shape;668;g31e2bc6d316_0_153"/>
          <p:cNvSpPr/>
          <p:nvPr/>
        </p:nvSpPr>
        <p:spPr>
          <a:xfrm>
            <a:off x="5322025" y="4558975"/>
            <a:ext cx="3150300" cy="19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9" name="Google Shape;669;g31e2bc6d316_0_1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1e2bc6d316_0_182"/>
          <p:cNvSpPr txBox="1"/>
          <p:nvPr>
            <p:ph idx="1" type="body"/>
          </p:nvPr>
        </p:nvSpPr>
        <p:spPr>
          <a:xfrm>
            <a:off x="143339" y="1019914"/>
            <a:ext cx="12192000" cy="53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SG" sz="2000"/>
              <a:t>To </a:t>
            </a:r>
            <a:r>
              <a:rPr lang="en-SG" sz="2000">
                <a:solidFill>
                  <a:srgbClr val="FF0000"/>
                </a:solidFill>
              </a:rPr>
              <a:t>create and perform </a:t>
            </a:r>
            <a:r>
              <a:rPr lang="en-SG" sz="2000"/>
              <a:t>a</a:t>
            </a:r>
            <a:r>
              <a:rPr lang="en-SG" sz="2000">
                <a:solidFill>
                  <a:srgbClr val="FF0000"/>
                </a:solidFill>
              </a:rPr>
              <a:t> </a:t>
            </a:r>
            <a:r>
              <a:rPr lang="en-SG" sz="2000"/>
              <a:t>new experiment, user needs to </a:t>
            </a:r>
            <a:r>
              <a:rPr lang="en-SG" sz="2000">
                <a:solidFill>
                  <a:srgbClr val="FF0000"/>
                </a:solidFill>
              </a:rPr>
              <a:t>create new experiment.</a:t>
            </a:r>
            <a:endParaRPr sz="2000">
              <a:solidFill>
                <a:srgbClr val="FF0000"/>
              </a:solidFill>
            </a:endParaRPr>
          </a:p>
          <a:p>
            <a:pPr indent="-241300" lvl="0" marL="45720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t/>
            </a:r>
            <a:endParaRPr sz="2000"/>
          </a:p>
          <a:p>
            <a:pPr indent="-1905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</a:pPr>
            <a:r>
              <a:t/>
            </a:r>
            <a:endParaRPr sz="2000"/>
          </a:p>
        </p:txBody>
      </p:sp>
      <p:pic>
        <p:nvPicPr>
          <p:cNvPr id="675" name="Google Shape;675;g31e2bc6d316_0_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349" y="1988840"/>
            <a:ext cx="11706115" cy="4240584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g31e2bc6d316_0_182"/>
          <p:cNvSpPr/>
          <p:nvPr/>
        </p:nvSpPr>
        <p:spPr>
          <a:xfrm>
            <a:off x="8556472" y="2789614"/>
            <a:ext cx="3587700" cy="2832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new experiment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7" name="Google Shape;677;g31e2bc6d316_0_182"/>
          <p:cNvCxnSpPr>
            <a:stCxn id="676" idx="0"/>
          </p:cNvCxnSpPr>
          <p:nvPr/>
        </p:nvCxnSpPr>
        <p:spPr>
          <a:xfrm flipH="1" rot="10800000">
            <a:off x="10350322" y="2391214"/>
            <a:ext cx="41700" cy="398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8" name="Google Shape;678;g31e2bc6d316_0_182"/>
          <p:cNvSpPr/>
          <p:nvPr/>
        </p:nvSpPr>
        <p:spPr>
          <a:xfrm>
            <a:off x="10224459" y="2091707"/>
            <a:ext cx="334800" cy="2997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g31e2bc6d316_0_182"/>
          <p:cNvSpPr/>
          <p:nvPr/>
        </p:nvSpPr>
        <p:spPr>
          <a:xfrm>
            <a:off x="5150077" y="3151824"/>
            <a:ext cx="3587700" cy="283200"/>
          </a:xfrm>
          <a:prstGeom prst="round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 of the experiment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0" name="Google Shape;680;g31e2bc6d316_0_182"/>
          <p:cNvCxnSpPr/>
          <p:nvPr/>
        </p:nvCxnSpPr>
        <p:spPr>
          <a:xfrm rot="10800000">
            <a:off x="4847733" y="3710715"/>
            <a:ext cx="1332000" cy="61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1" name="Google Shape;681;g31e2bc6d316_0_182"/>
          <p:cNvSpPr/>
          <p:nvPr/>
        </p:nvSpPr>
        <p:spPr>
          <a:xfrm>
            <a:off x="6179733" y="3594361"/>
            <a:ext cx="3990000" cy="371100"/>
          </a:xfrm>
          <a:prstGeom prst="round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Duration of the experiment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g31e2bc6d316_0_182"/>
          <p:cNvSpPr/>
          <p:nvPr/>
        </p:nvSpPr>
        <p:spPr>
          <a:xfrm>
            <a:off x="3821453" y="4033406"/>
            <a:ext cx="1194900" cy="2880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g31e2bc6d316_0_182"/>
          <p:cNvSpPr/>
          <p:nvPr/>
        </p:nvSpPr>
        <p:spPr>
          <a:xfrm>
            <a:off x="6569519" y="4172120"/>
            <a:ext cx="4335900" cy="896100"/>
          </a:xfrm>
          <a:prstGeom prst="round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User can schedule experiments if nodes are not available at that moment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g31e2bc6d316_0_182"/>
          <p:cNvSpPr/>
          <p:nvPr/>
        </p:nvSpPr>
        <p:spPr>
          <a:xfrm>
            <a:off x="1014449" y="5517232"/>
            <a:ext cx="2297100" cy="8640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g31e2bc6d316_0_182"/>
          <p:cNvSpPr/>
          <p:nvPr/>
        </p:nvSpPr>
        <p:spPr>
          <a:xfrm>
            <a:off x="5390513" y="5517232"/>
            <a:ext cx="4959600" cy="968400"/>
          </a:xfrm>
          <a:prstGeom prst="round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User can submit his/her experiment once the nodes are selected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6" name="Google Shape;686;g31e2bc6d316_0_182"/>
          <p:cNvCxnSpPr>
            <a:stCxn id="679" idx="1"/>
          </p:cNvCxnSpPr>
          <p:nvPr/>
        </p:nvCxnSpPr>
        <p:spPr>
          <a:xfrm flipH="1">
            <a:off x="4061377" y="3293424"/>
            <a:ext cx="1088700" cy="6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7" name="Google Shape;687;g31e2bc6d316_0_182"/>
          <p:cNvCxnSpPr/>
          <p:nvPr/>
        </p:nvCxnSpPr>
        <p:spPr>
          <a:xfrm rot="10800000">
            <a:off x="4969019" y="4198700"/>
            <a:ext cx="1600500" cy="222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8" name="Google Shape;688;g31e2bc6d316_0_182"/>
          <p:cNvCxnSpPr>
            <a:stCxn id="685" idx="1"/>
          </p:cNvCxnSpPr>
          <p:nvPr/>
        </p:nvCxnSpPr>
        <p:spPr>
          <a:xfrm rot="10800000">
            <a:off x="3329813" y="5949532"/>
            <a:ext cx="2060700" cy="51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9" name="Google Shape;689;g31e2bc6d316_0_182"/>
          <p:cNvSpPr/>
          <p:nvPr/>
        </p:nvSpPr>
        <p:spPr>
          <a:xfrm>
            <a:off x="1199456" y="4604516"/>
            <a:ext cx="1016100" cy="4635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g31e2bc6d316_0_182"/>
          <p:cNvSpPr/>
          <p:nvPr/>
        </p:nvSpPr>
        <p:spPr>
          <a:xfrm>
            <a:off x="2831637" y="4460369"/>
            <a:ext cx="3690000" cy="8961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 need to be selected before submitting the experiment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1" name="Google Shape;691;g31e2bc6d316_0_182"/>
          <p:cNvCxnSpPr>
            <a:stCxn id="690" idx="1"/>
          </p:cNvCxnSpPr>
          <p:nvPr/>
        </p:nvCxnSpPr>
        <p:spPr>
          <a:xfrm rot="10800000">
            <a:off x="2215737" y="4856819"/>
            <a:ext cx="615900" cy="5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2" name="Google Shape;692;g31e2bc6d316_0_182"/>
          <p:cNvSpPr txBox="1"/>
          <p:nvPr/>
        </p:nvSpPr>
        <p:spPr>
          <a:xfrm>
            <a:off x="0" y="0"/>
            <a:ext cx="99813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to perform an experiment?</a:t>
            </a:r>
            <a:endParaRPr sz="3300"/>
          </a:p>
        </p:txBody>
      </p:sp>
      <p:cxnSp>
        <p:nvCxnSpPr>
          <p:cNvPr id="693" name="Google Shape;693;g31e2bc6d316_0_182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94" name="Google Shape;694;g31e2bc6d316_0_1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1e2bc6d316_0_161"/>
          <p:cNvSpPr txBox="1"/>
          <p:nvPr>
            <p:ph idx="1" type="body"/>
          </p:nvPr>
        </p:nvSpPr>
        <p:spPr>
          <a:xfrm>
            <a:off x="143339" y="1019914"/>
            <a:ext cx="12192000" cy="53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-241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t/>
            </a:r>
            <a:endParaRPr sz="3500"/>
          </a:p>
          <a:p>
            <a:pPr indent="-1905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</a:pPr>
            <a:r>
              <a:t/>
            </a:r>
            <a:endParaRPr/>
          </a:p>
        </p:txBody>
      </p:sp>
      <p:pic>
        <p:nvPicPr>
          <p:cNvPr id="700" name="Google Shape;700;g31e2bc6d316_0_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40768"/>
            <a:ext cx="12048662" cy="50175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1" name="Google Shape;701;g31e2bc6d316_0_161"/>
          <p:cNvCxnSpPr/>
          <p:nvPr/>
        </p:nvCxnSpPr>
        <p:spPr>
          <a:xfrm rot="10800000">
            <a:off x="4560089" y="5785799"/>
            <a:ext cx="1903500" cy="343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2" name="Google Shape;702;g31e2bc6d316_0_161"/>
          <p:cNvSpPr/>
          <p:nvPr/>
        </p:nvSpPr>
        <p:spPr>
          <a:xfrm>
            <a:off x="6065399" y="3776019"/>
            <a:ext cx="3696300" cy="648000"/>
          </a:xfrm>
          <a:prstGeom prst="round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Different location where the nodes are present</a:t>
            </a:r>
            <a:endParaRPr sz="2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g31e2bc6d316_0_161"/>
          <p:cNvSpPr/>
          <p:nvPr/>
        </p:nvSpPr>
        <p:spPr>
          <a:xfrm>
            <a:off x="835032" y="3861047"/>
            <a:ext cx="4378800" cy="5040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4" name="Google Shape;704;g31e2bc6d316_0_161"/>
          <p:cNvCxnSpPr/>
          <p:nvPr/>
        </p:nvCxnSpPr>
        <p:spPr>
          <a:xfrm flipH="1">
            <a:off x="5062540" y="4113075"/>
            <a:ext cx="938700" cy="11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5" name="Google Shape;705;g31e2bc6d316_0_161"/>
          <p:cNvSpPr/>
          <p:nvPr/>
        </p:nvSpPr>
        <p:spPr>
          <a:xfrm>
            <a:off x="861987" y="4413221"/>
            <a:ext cx="10346400" cy="8880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g31e2bc6d316_0_161"/>
          <p:cNvSpPr/>
          <p:nvPr/>
        </p:nvSpPr>
        <p:spPr>
          <a:xfrm>
            <a:off x="5807968" y="5785374"/>
            <a:ext cx="6144900" cy="648000"/>
          </a:xfrm>
          <a:prstGeom prst="round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Status of available nodes in different location</a:t>
            </a:r>
            <a:endParaRPr sz="2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g31e2bc6d316_0_161"/>
          <p:cNvSpPr/>
          <p:nvPr/>
        </p:nvSpPr>
        <p:spPr>
          <a:xfrm>
            <a:off x="861987" y="5301207"/>
            <a:ext cx="5139300" cy="4623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8" name="Google Shape;708;g31e2bc6d316_0_161"/>
          <p:cNvCxnSpPr/>
          <p:nvPr/>
        </p:nvCxnSpPr>
        <p:spPr>
          <a:xfrm rot="10800000">
            <a:off x="4888951" y="5052223"/>
            <a:ext cx="1903500" cy="343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9" name="Google Shape;709;g31e2bc6d316_0_161"/>
          <p:cNvSpPr/>
          <p:nvPr/>
        </p:nvSpPr>
        <p:spPr>
          <a:xfrm>
            <a:off x="6610703" y="5063984"/>
            <a:ext cx="3151200" cy="648000"/>
          </a:xfrm>
          <a:prstGeom prst="round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Architecture of nodes</a:t>
            </a:r>
            <a:endParaRPr sz="2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g31e2bc6d316_0_161"/>
          <p:cNvSpPr/>
          <p:nvPr/>
        </p:nvSpPr>
        <p:spPr>
          <a:xfrm>
            <a:off x="5893675" y="1812078"/>
            <a:ext cx="3587700" cy="5505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new experiment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1" name="Google Shape;711;g31e2bc6d316_0_161"/>
          <p:cNvCxnSpPr>
            <a:stCxn id="710" idx="3"/>
          </p:cNvCxnSpPr>
          <p:nvPr/>
        </p:nvCxnSpPr>
        <p:spPr>
          <a:xfrm flipH="1" rot="10800000">
            <a:off x="9481375" y="1856328"/>
            <a:ext cx="935100" cy="231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2" name="Google Shape;712;g31e2bc6d316_0_161"/>
          <p:cNvSpPr/>
          <p:nvPr/>
        </p:nvSpPr>
        <p:spPr>
          <a:xfrm>
            <a:off x="10261091" y="1274096"/>
            <a:ext cx="443700" cy="5823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g31e2bc6d316_0_161"/>
          <p:cNvSpPr txBox="1"/>
          <p:nvPr/>
        </p:nvSpPr>
        <p:spPr>
          <a:xfrm>
            <a:off x="0" y="0"/>
            <a:ext cx="82407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Testbed Status: after login</a:t>
            </a:r>
            <a:endParaRPr sz="3300"/>
          </a:p>
        </p:txBody>
      </p:sp>
      <p:cxnSp>
        <p:nvCxnSpPr>
          <p:cNvPr id="714" name="Google Shape;714;g31e2bc6d316_0_161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5" name="Google Shape;715;g31e2bc6d316_0_1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1e2bc6d316_0_205"/>
          <p:cNvSpPr txBox="1"/>
          <p:nvPr>
            <p:ph idx="1" type="body"/>
          </p:nvPr>
        </p:nvSpPr>
        <p:spPr>
          <a:xfrm>
            <a:off x="143339" y="1019914"/>
            <a:ext cx="12192000" cy="53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SG" sz="2100"/>
              <a:t>User can select nodes by </a:t>
            </a:r>
            <a:r>
              <a:rPr lang="en-SG" sz="2100">
                <a:solidFill>
                  <a:srgbClr val="FF0000"/>
                </a:solidFill>
              </a:rPr>
              <a:t>Node properties, Host name/map </a:t>
            </a:r>
            <a:r>
              <a:rPr lang="en-SG" sz="2100"/>
              <a:t>and </a:t>
            </a:r>
            <a:r>
              <a:rPr lang="en-SG" sz="2100">
                <a:solidFill>
                  <a:srgbClr val="FF0000"/>
                </a:solidFill>
              </a:rPr>
              <a:t>Node Id</a:t>
            </a:r>
            <a:endParaRPr sz="2100"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en-SG" sz="2100"/>
              <a:t>	</a:t>
            </a:r>
            <a:endParaRPr sz="2100"/>
          </a:p>
        </p:txBody>
      </p:sp>
      <p:pic>
        <p:nvPicPr>
          <p:cNvPr id="721" name="Google Shape;721;g31e2bc6d316_0_2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052" y="2024502"/>
            <a:ext cx="11808598" cy="435018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g31e2bc6d316_0_205"/>
          <p:cNvSpPr/>
          <p:nvPr/>
        </p:nvSpPr>
        <p:spPr>
          <a:xfrm>
            <a:off x="1072607" y="2903026"/>
            <a:ext cx="1440000" cy="4320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g31e2bc6d316_0_205"/>
          <p:cNvSpPr/>
          <p:nvPr/>
        </p:nvSpPr>
        <p:spPr>
          <a:xfrm>
            <a:off x="10992544" y="4545466"/>
            <a:ext cx="960000" cy="4320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g31e2bc6d316_0_205"/>
          <p:cNvSpPr/>
          <p:nvPr/>
        </p:nvSpPr>
        <p:spPr>
          <a:xfrm>
            <a:off x="2494293" y="4224612"/>
            <a:ext cx="1393500" cy="3213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g31e2bc6d316_0_205"/>
          <p:cNvSpPr/>
          <p:nvPr/>
        </p:nvSpPr>
        <p:spPr>
          <a:xfrm>
            <a:off x="815413" y="4918774"/>
            <a:ext cx="977100" cy="4320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g31e2bc6d316_0_205"/>
          <p:cNvSpPr/>
          <p:nvPr/>
        </p:nvSpPr>
        <p:spPr>
          <a:xfrm>
            <a:off x="3028447" y="4920888"/>
            <a:ext cx="1334400" cy="4320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g31e2bc6d316_0_205"/>
          <p:cNvSpPr/>
          <p:nvPr/>
        </p:nvSpPr>
        <p:spPr>
          <a:xfrm>
            <a:off x="5058260" y="4907033"/>
            <a:ext cx="1334400" cy="4320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g31e2bc6d316_0_205"/>
          <p:cNvSpPr/>
          <p:nvPr/>
        </p:nvSpPr>
        <p:spPr>
          <a:xfrm>
            <a:off x="3028447" y="5504942"/>
            <a:ext cx="3531300" cy="858900"/>
          </a:xfrm>
          <a:prstGeom prst="roundRect">
            <a:avLst>
              <a:gd fmla="val 16667" name="adj"/>
            </a:avLst>
          </a:prstGeom>
          <a:solidFill>
            <a:srgbClr val="DDD9C3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Select the architecture such as M3, A8 etc.,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g31e2bc6d316_0_205"/>
          <p:cNvSpPr/>
          <p:nvPr/>
        </p:nvSpPr>
        <p:spPr>
          <a:xfrm>
            <a:off x="28205" y="5518796"/>
            <a:ext cx="2698800" cy="858900"/>
          </a:xfrm>
          <a:prstGeom prst="roundRect">
            <a:avLst>
              <a:gd fmla="val 16667" name="adj"/>
            </a:avLst>
          </a:prstGeom>
          <a:solidFill>
            <a:srgbClr val="DDD9C3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Select the sites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such as grenoble, Lille, Lyon, etc.,</a:t>
            </a:r>
            <a:endParaRPr sz="1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0" name="Google Shape;730;g31e2bc6d316_0_205"/>
          <p:cNvCxnSpPr>
            <a:endCxn id="725" idx="3"/>
          </p:cNvCxnSpPr>
          <p:nvPr/>
        </p:nvCxnSpPr>
        <p:spPr>
          <a:xfrm flipH="1" rot="10800000">
            <a:off x="815406" y="5287509"/>
            <a:ext cx="143100" cy="22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1" name="Google Shape;731;g31e2bc6d316_0_205"/>
          <p:cNvCxnSpPr>
            <a:endCxn id="727" idx="5"/>
          </p:cNvCxnSpPr>
          <p:nvPr/>
        </p:nvCxnSpPr>
        <p:spPr>
          <a:xfrm rot="10800000">
            <a:off x="6197242" y="5275768"/>
            <a:ext cx="958500" cy="388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2" name="Google Shape;732;g31e2bc6d316_0_205"/>
          <p:cNvSpPr/>
          <p:nvPr/>
        </p:nvSpPr>
        <p:spPr>
          <a:xfrm>
            <a:off x="7034901" y="5664413"/>
            <a:ext cx="3531300" cy="861300"/>
          </a:xfrm>
          <a:prstGeom prst="roundRect">
            <a:avLst>
              <a:gd fmla="val 16667" name="adj"/>
            </a:avLst>
          </a:prstGeom>
          <a:solidFill>
            <a:srgbClr val="DDD9C3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Selects nodes mobilities i.e., mobile or not mobile</a:t>
            </a:r>
            <a:endParaRPr sz="2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g31e2bc6d316_0_205"/>
          <p:cNvSpPr/>
          <p:nvPr/>
        </p:nvSpPr>
        <p:spPr>
          <a:xfrm>
            <a:off x="143339" y="2903026"/>
            <a:ext cx="8594400" cy="12105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g31e2bc6d316_0_205"/>
          <p:cNvSpPr/>
          <p:nvPr/>
        </p:nvSpPr>
        <p:spPr>
          <a:xfrm>
            <a:off x="7334155" y="4155391"/>
            <a:ext cx="4618500" cy="15024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g31e2bc6d316_0_205"/>
          <p:cNvSpPr/>
          <p:nvPr/>
        </p:nvSpPr>
        <p:spPr>
          <a:xfrm>
            <a:off x="173108" y="4155391"/>
            <a:ext cx="6594900" cy="13047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6" name="Google Shape;736;g31e2bc6d316_0_205"/>
          <p:cNvCxnSpPr>
            <a:stCxn id="728" idx="0"/>
          </p:cNvCxnSpPr>
          <p:nvPr/>
        </p:nvCxnSpPr>
        <p:spPr>
          <a:xfrm rot="10800000">
            <a:off x="4155397" y="5252942"/>
            <a:ext cx="638700" cy="252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7" name="Google Shape;737;g31e2bc6d316_0_205"/>
          <p:cNvSpPr txBox="1"/>
          <p:nvPr/>
        </p:nvSpPr>
        <p:spPr>
          <a:xfrm>
            <a:off x="0" y="0"/>
            <a:ext cx="6594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to select nodes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8" name="Google Shape;738;g31e2bc6d316_0_205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9" name="Google Shape;739;g31e2bc6d316_0_2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oogle Shape;744;g31e2bc6d316_0_2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371" y="1196752"/>
            <a:ext cx="11425200" cy="532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g31e2bc6d316_0_227"/>
          <p:cNvSpPr/>
          <p:nvPr/>
        </p:nvSpPr>
        <p:spPr>
          <a:xfrm>
            <a:off x="2032000" y="4437112"/>
            <a:ext cx="288000" cy="2160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g31e2bc6d316_0_227"/>
          <p:cNvSpPr/>
          <p:nvPr/>
        </p:nvSpPr>
        <p:spPr>
          <a:xfrm>
            <a:off x="2927648" y="4077072"/>
            <a:ext cx="288000" cy="2160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g31e2bc6d316_0_227"/>
          <p:cNvSpPr/>
          <p:nvPr/>
        </p:nvSpPr>
        <p:spPr>
          <a:xfrm>
            <a:off x="2639616" y="3855963"/>
            <a:ext cx="288000" cy="2160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g31e2bc6d316_0_227"/>
          <p:cNvSpPr/>
          <p:nvPr/>
        </p:nvSpPr>
        <p:spPr>
          <a:xfrm>
            <a:off x="3821544" y="3824243"/>
            <a:ext cx="344100" cy="1845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g31e2bc6d316_0_227"/>
          <p:cNvSpPr/>
          <p:nvPr/>
        </p:nvSpPr>
        <p:spPr>
          <a:xfrm>
            <a:off x="3433343" y="3490838"/>
            <a:ext cx="288000" cy="2160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0" name="Google Shape;750;g31e2bc6d316_0_227"/>
          <p:cNvCxnSpPr>
            <a:endCxn id="746" idx="3"/>
          </p:cNvCxnSpPr>
          <p:nvPr/>
        </p:nvCxnSpPr>
        <p:spPr>
          <a:xfrm flipH="1" rot="10800000">
            <a:off x="2320325" y="4261440"/>
            <a:ext cx="649500" cy="252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51" name="Google Shape;751;g31e2bc6d316_0_227"/>
          <p:cNvCxnSpPr>
            <a:stCxn id="745" idx="0"/>
            <a:endCxn id="747" idx="3"/>
          </p:cNvCxnSpPr>
          <p:nvPr/>
        </p:nvCxnSpPr>
        <p:spPr>
          <a:xfrm flipH="1" rot="10800000">
            <a:off x="2176000" y="4040212"/>
            <a:ext cx="505800" cy="396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52" name="Google Shape;752;g31e2bc6d316_0_227"/>
          <p:cNvCxnSpPr>
            <a:stCxn id="746" idx="6"/>
            <a:endCxn id="748" idx="3"/>
          </p:cNvCxnSpPr>
          <p:nvPr/>
        </p:nvCxnSpPr>
        <p:spPr>
          <a:xfrm flipH="1" rot="10800000">
            <a:off x="3215648" y="3981672"/>
            <a:ext cx="656400" cy="203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53" name="Google Shape;753;g31e2bc6d316_0_227"/>
          <p:cNvCxnSpPr>
            <a:endCxn id="749" idx="2"/>
          </p:cNvCxnSpPr>
          <p:nvPr/>
        </p:nvCxnSpPr>
        <p:spPr>
          <a:xfrm flipH="1" rot="10800000">
            <a:off x="2927843" y="3598838"/>
            <a:ext cx="505500" cy="257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54" name="Google Shape;754;g31e2bc6d316_0_227"/>
          <p:cNvSpPr/>
          <p:nvPr/>
        </p:nvSpPr>
        <p:spPr>
          <a:xfrm>
            <a:off x="527381" y="5949280"/>
            <a:ext cx="6912900" cy="5709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5" name="Google Shape;755;g31e2bc6d316_0_227"/>
          <p:cNvCxnSpPr/>
          <p:nvPr/>
        </p:nvCxnSpPr>
        <p:spPr>
          <a:xfrm flipH="1" rot="10800000">
            <a:off x="1487488" y="4698580"/>
            <a:ext cx="688500" cy="1250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6" name="Google Shape;756;g31e2bc6d316_0_227"/>
          <p:cNvSpPr/>
          <p:nvPr/>
        </p:nvSpPr>
        <p:spPr>
          <a:xfrm>
            <a:off x="6063801" y="3897052"/>
            <a:ext cx="5198400" cy="1661700"/>
          </a:xfrm>
          <a:prstGeom prst="rect">
            <a:avLst/>
          </a:prstGeom>
          <a:solidFill>
            <a:srgbClr val="C5D8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Five </a:t>
            </a:r>
            <a:r>
              <a:rPr lang="en-SG" sz="19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M3 nodes </a:t>
            </a:r>
            <a:r>
              <a:rPr lang="en-SG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are selected in Grenoble location. The </a:t>
            </a:r>
            <a:r>
              <a:rPr lang="en-SG" sz="19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greed dots </a:t>
            </a:r>
            <a:r>
              <a:rPr lang="en-SG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denote active nodes</a:t>
            </a:r>
            <a:r>
              <a:rPr lang="en-SG" sz="19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, red dots </a:t>
            </a:r>
            <a:r>
              <a:rPr lang="en-SG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denote the nodes which are down and the </a:t>
            </a:r>
            <a:r>
              <a:rPr lang="en-SG" sz="19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blank dots </a:t>
            </a:r>
            <a:r>
              <a:rPr lang="en-SG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denote the location of the selected nodes</a:t>
            </a:r>
            <a:endParaRPr sz="1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g31e2bc6d316_0_227"/>
          <p:cNvSpPr/>
          <p:nvPr/>
        </p:nvSpPr>
        <p:spPr>
          <a:xfrm>
            <a:off x="1169021" y="1811034"/>
            <a:ext cx="1151100" cy="3219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g31e2bc6d316_0_227"/>
          <p:cNvSpPr/>
          <p:nvPr/>
        </p:nvSpPr>
        <p:spPr>
          <a:xfrm>
            <a:off x="3296424" y="1777110"/>
            <a:ext cx="1151100" cy="3219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g31e2bc6d316_0_227"/>
          <p:cNvSpPr/>
          <p:nvPr/>
        </p:nvSpPr>
        <p:spPr>
          <a:xfrm>
            <a:off x="5449129" y="1811034"/>
            <a:ext cx="1151100" cy="3219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g31e2bc6d316_0_227"/>
          <p:cNvSpPr/>
          <p:nvPr/>
        </p:nvSpPr>
        <p:spPr>
          <a:xfrm>
            <a:off x="7461647" y="6165304"/>
            <a:ext cx="192000" cy="2880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g31e2bc6d316_0_227"/>
          <p:cNvSpPr/>
          <p:nvPr/>
        </p:nvSpPr>
        <p:spPr>
          <a:xfrm>
            <a:off x="8496267" y="5661248"/>
            <a:ext cx="3360300" cy="780900"/>
          </a:xfrm>
          <a:prstGeom prst="rect">
            <a:avLst/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the user firmware needs to be attached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2" name="Google Shape;762;g31e2bc6d316_0_227"/>
          <p:cNvCxnSpPr>
            <a:endCxn id="760" idx="0"/>
          </p:cNvCxnSpPr>
          <p:nvPr/>
        </p:nvCxnSpPr>
        <p:spPr>
          <a:xfrm flipH="1">
            <a:off x="7557647" y="5907604"/>
            <a:ext cx="938700" cy="25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3" name="Google Shape;763;g31e2bc6d316_0_227"/>
          <p:cNvSpPr txBox="1"/>
          <p:nvPr/>
        </p:nvSpPr>
        <p:spPr>
          <a:xfrm>
            <a:off x="0" y="0"/>
            <a:ext cx="3999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Contd..</a:t>
            </a:r>
            <a:endParaRPr sz="3300"/>
          </a:p>
        </p:txBody>
      </p:sp>
      <p:pic>
        <p:nvPicPr>
          <p:cNvPr id="764" name="Google Shape;764;g31e2bc6d316_0_2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9" name="Google Shape;769;g31e2bc6d316_0_250"/>
          <p:cNvCxnSpPr/>
          <p:nvPr/>
        </p:nvCxnSpPr>
        <p:spPr>
          <a:xfrm flipH="1">
            <a:off x="7557567" y="5907625"/>
            <a:ext cx="938700" cy="25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770" name="Google Shape;770;g31e2bc6d316_0_2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717518"/>
            <a:ext cx="11727093" cy="466381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g31e2bc6d316_0_250"/>
          <p:cNvSpPr/>
          <p:nvPr/>
        </p:nvSpPr>
        <p:spPr>
          <a:xfrm>
            <a:off x="0" y="1060917"/>
            <a:ext cx="4165500" cy="4079700"/>
          </a:xfrm>
          <a:prstGeom prst="rect">
            <a:avLst/>
          </a:prstGeom>
          <a:solidFill>
            <a:srgbClr val="C5D8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-355600" lvl="0" marL="3810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lang="en-SG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Firmware is the binary file (.elf) generated using the contiki-NG. </a:t>
            </a:r>
            <a:endParaRPr sz="2000"/>
          </a:p>
          <a:p>
            <a:pPr indent="-355600" lvl="0" marL="38100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Char char="•"/>
            </a:pPr>
            <a:r>
              <a:rPr lang="en-SG" sz="20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User can upload his/her modified code for example change in scheduling algorithm, change in RPL operation, change in TSCH operation etc. </a:t>
            </a:r>
            <a:endParaRPr sz="2000"/>
          </a:p>
          <a:p>
            <a:pPr indent="-355600" lvl="0" marL="3810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lang="en-SG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Depending on the type of selected node (M3, A8), the firmware varies.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g31e2bc6d316_0_250"/>
          <p:cNvSpPr/>
          <p:nvPr/>
        </p:nvSpPr>
        <p:spPr>
          <a:xfrm>
            <a:off x="10608501" y="5733256"/>
            <a:ext cx="480000" cy="4320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3" name="Google Shape;773;g31e2bc6d316_0_250"/>
          <p:cNvCxnSpPr/>
          <p:nvPr/>
        </p:nvCxnSpPr>
        <p:spPr>
          <a:xfrm rot="10800000">
            <a:off x="4165580" y="4429122"/>
            <a:ext cx="5958900" cy="1212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4" name="Google Shape;774;g31e2bc6d316_0_250"/>
          <p:cNvSpPr/>
          <p:nvPr/>
        </p:nvSpPr>
        <p:spPr>
          <a:xfrm>
            <a:off x="8737600" y="3356992"/>
            <a:ext cx="2158800" cy="5040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g31e2bc6d316_0_250"/>
          <p:cNvSpPr/>
          <p:nvPr/>
        </p:nvSpPr>
        <p:spPr>
          <a:xfrm>
            <a:off x="9264352" y="2596643"/>
            <a:ext cx="1824300" cy="5040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g31e2bc6d316_0_250"/>
          <p:cNvSpPr/>
          <p:nvPr/>
        </p:nvSpPr>
        <p:spPr>
          <a:xfrm>
            <a:off x="5947268" y="1318030"/>
            <a:ext cx="3360300" cy="504000"/>
          </a:xfrm>
          <a:prstGeom prst="round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lang="en-SG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select </a:t>
            </a:r>
            <a:r>
              <a:rPr lang="en-SG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firmware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7" name="Google Shape;777;g31e2bc6d316_0_250"/>
          <p:cNvCxnSpPr>
            <a:stCxn id="775" idx="0"/>
          </p:cNvCxnSpPr>
          <p:nvPr/>
        </p:nvCxnSpPr>
        <p:spPr>
          <a:xfrm rot="10800000">
            <a:off x="8016202" y="1836743"/>
            <a:ext cx="2160300" cy="759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8" name="Google Shape;778;g31e2bc6d316_0_250"/>
          <p:cNvSpPr/>
          <p:nvPr/>
        </p:nvSpPr>
        <p:spPr>
          <a:xfrm>
            <a:off x="4993960" y="2614783"/>
            <a:ext cx="2563500" cy="544500"/>
          </a:xfrm>
          <a:prstGeom prst="roundRect">
            <a:avLst>
              <a:gd fmla="val 16667" name="adj"/>
            </a:avLst>
          </a:prstGeom>
          <a:solidFill>
            <a:srgbClr val="C5D8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add and store a firmware</a:t>
            </a:r>
            <a:endParaRPr sz="1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9" name="Google Shape;779;g31e2bc6d316_0_250"/>
          <p:cNvCxnSpPr>
            <a:stCxn id="774" idx="2"/>
          </p:cNvCxnSpPr>
          <p:nvPr/>
        </p:nvCxnSpPr>
        <p:spPr>
          <a:xfrm rot="10800000">
            <a:off x="7297600" y="3167392"/>
            <a:ext cx="1440000" cy="44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0" name="Google Shape;780;g31e2bc6d316_0_250"/>
          <p:cNvSpPr txBox="1"/>
          <p:nvPr/>
        </p:nvSpPr>
        <p:spPr>
          <a:xfrm>
            <a:off x="0" y="0"/>
            <a:ext cx="3999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Cont..</a:t>
            </a:r>
            <a:endParaRPr sz="3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1" name="Google Shape;781;g31e2bc6d316_0_250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82" name="Google Shape;782;g31e2bc6d316_0_2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1e2bc6d316_0_351"/>
          <p:cNvSpPr txBox="1"/>
          <p:nvPr/>
        </p:nvSpPr>
        <p:spPr>
          <a:xfrm>
            <a:off x="0" y="215225"/>
            <a:ext cx="109473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Language Models (LLMs) in IoT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8" name="Google Shape;788;g31e2bc6d316_0_3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9" name="Google Shape;789;g31e2bc6d316_0_351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0" name="Google Shape;790;g31e2bc6d316_0_351"/>
          <p:cNvSpPr txBox="1"/>
          <p:nvPr/>
        </p:nvSpPr>
        <p:spPr>
          <a:xfrm>
            <a:off x="1806850" y="2250150"/>
            <a:ext cx="29643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Turn on the TV !!!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1" name="Google Shape;791;g31e2bc6d316_0_351"/>
          <p:cNvCxnSpPr/>
          <p:nvPr/>
        </p:nvCxnSpPr>
        <p:spPr>
          <a:xfrm>
            <a:off x="4712450" y="2568125"/>
            <a:ext cx="2416500" cy="14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2" name="Google Shape;792;g31e2bc6d316_0_351"/>
          <p:cNvSpPr/>
          <p:nvPr/>
        </p:nvSpPr>
        <p:spPr>
          <a:xfrm>
            <a:off x="5250500" y="2285597"/>
            <a:ext cx="1213164" cy="57974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>
                <a:latin typeface="Calibri"/>
                <a:ea typeface="Calibri"/>
                <a:cs typeface="Calibri"/>
                <a:sym typeface="Calibri"/>
              </a:rPr>
              <a:t>IoT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g31e2bc6d316_0_351"/>
          <p:cNvSpPr txBox="1"/>
          <p:nvPr/>
        </p:nvSpPr>
        <p:spPr>
          <a:xfrm>
            <a:off x="7203025" y="2250150"/>
            <a:ext cx="29643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Turn on the TV.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4" name="Google Shape;794;g31e2bc6d316_0_3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025" y="1768675"/>
            <a:ext cx="1168774" cy="116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g31e2bc6d316_0_3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025" y="4141850"/>
            <a:ext cx="1168774" cy="1168774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g31e2bc6d316_0_351"/>
          <p:cNvSpPr txBox="1"/>
          <p:nvPr/>
        </p:nvSpPr>
        <p:spPr>
          <a:xfrm>
            <a:off x="1881000" y="4588300"/>
            <a:ext cx="368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800">
                <a:latin typeface="Calibri"/>
                <a:ea typeface="Calibri"/>
                <a:cs typeface="Calibri"/>
                <a:sym typeface="Calibri"/>
              </a:rPr>
              <a:t>Set up for movie night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7" name="Google Shape;797;g31e2bc6d316_0_351"/>
          <p:cNvCxnSpPr/>
          <p:nvPr/>
        </p:nvCxnSpPr>
        <p:spPr>
          <a:xfrm flipH="1" rot="10800000">
            <a:off x="5349875" y="4940400"/>
            <a:ext cx="1745400" cy="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8" name="Google Shape;798;g31e2bc6d316_0_351"/>
          <p:cNvSpPr/>
          <p:nvPr/>
        </p:nvSpPr>
        <p:spPr>
          <a:xfrm>
            <a:off x="5569200" y="4650972"/>
            <a:ext cx="1213164" cy="57974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>
                <a:latin typeface="Calibri"/>
                <a:ea typeface="Calibri"/>
                <a:cs typeface="Calibri"/>
                <a:sym typeface="Calibri"/>
              </a:rPr>
              <a:t>LLM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g31e2bc6d316_0_351"/>
          <p:cNvSpPr txBox="1"/>
          <p:nvPr/>
        </p:nvSpPr>
        <p:spPr>
          <a:xfrm>
            <a:off x="7203025" y="3707825"/>
            <a:ext cx="4831800" cy="25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SG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the lights in the living room,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SG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Close the blinds,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SG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Adjust the thermostat to a comfortable temperature,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SG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Turn on the TV and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SG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Navigate to the user’s preferred streaming service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1e2bc6d316_0_372"/>
          <p:cNvSpPr txBox="1"/>
          <p:nvPr/>
        </p:nvSpPr>
        <p:spPr>
          <a:xfrm>
            <a:off x="0" y="215225"/>
            <a:ext cx="109473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Language Models (LLMs) in IoT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5" name="Google Shape;805;g31e2bc6d316_0_3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6" name="Google Shape;806;g31e2bc6d316_0_372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7" name="Google Shape;807;g31e2bc6d316_0_372"/>
          <p:cNvPicPr preferRelativeResize="0"/>
          <p:nvPr/>
        </p:nvPicPr>
        <p:blipFill rotWithShape="1">
          <a:blip r:embed="rId4">
            <a:alphaModFix/>
          </a:blip>
          <a:srcRect b="0" l="0" r="81118" t="0"/>
          <a:stretch/>
        </p:blipFill>
        <p:spPr>
          <a:xfrm>
            <a:off x="27475" y="1722725"/>
            <a:ext cx="2244475" cy="340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g31e2bc6d316_0_372"/>
          <p:cNvPicPr preferRelativeResize="0"/>
          <p:nvPr/>
        </p:nvPicPr>
        <p:blipFill rotWithShape="1">
          <a:blip r:embed="rId4">
            <a:alphaModFix/>
          </a:blip>
          <a:srcRect b="0" l="90681" r="0" t="0"/>
          <a:stretch/>
        </p:blipFill>
        <p:spPr>
          <a:xfrm>
            <a:off x="10898501" y="1646025"/>
            <a:ext cx="1107651" cy="340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g31e2bc6d316_0_372"/>
          <p:cNvPicPr preferRelativeResize="0"/>
          <p:nvPr/>
        </p:nvPicPr>
        <p:blipFill rotWithShape="1">
          <a:blip r:embed="rId4">
            <a:alphaModFix/>
          </a:blip>
          <a:srcRect b="0" l="18883" r="62599" t="0"/>
          <a:stretch/>
        </p:blipFill>
        <p:spPr>
          <a:xfrm>
            <a:off x="2230575" y="1722725"/>
            <a:ext cx="2201226" cy="340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g31e2bc6d316_0_372"/>
          <p:cNvPicPr preferRelativeResize="0"/>
          <p:nvPr/>
        </p:nvPicPr>
        <p:blipFill rotWithShape="1">
          <a:blip r:embed="rId4">
            <a:alphaModFix/>
          </a:blip>
          <a:srcRect b="0" l="37339" r="45788" t="0"/>
          <a:stretch/>
        </p:blipFill>
        <p:spPr>
          <a:xfrm>
            <a:off x="4373100" y="1722725"/>
            <a:ext cx="2005550" cy="340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g31e2bc6d316_0_372"/>
          <p:cNvPicPr preferRelativeResize="0"/>
          <p:nvPr/>
        </p:nvPicPr>
        <p:blipFill rotWithShape="1">
          <a:blip r:embed="rId4">
            <a:alphaModFix/>
          </a:blip>
          <a:srcRect b="0" l="53997" r="23452" t="0"/>
          <a:stretch/>
        </p:blipFill>
        <p:spPr>
          <a:xfrm>
            <a:off x="6417788" y="1722725"/>
            <a:ext cx="2680576" cy="340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g31e2bc6d316_0_372"/>
          <p:cNvPicPr preferRelativeResize="0"/>
          <p:nvPr/>
        </p:nvPicPr>
        <p:blipFill rotWithShape="1">
          <a:blip r:embed="rId4">
            <a:alphaModFix/>
          </a:blip>
          <a:srcRect b="0" l="76666" r="8519" t="0"/>
          <a:stretch/>
        </p:blipFill>
        <p:spPr>
          <a:xfrm>
            <a:off x="9137525" y="1722725"/>
            <a:ext cx="1760973" cy="340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1e2bc6d316_0_395"/>
          <p:cNvSpPr txBox="1"/>
          <p:nvPr/>
        </p:nvSpPr>
        <p:spPr>
          <a:xfrm>
            <a:off x="0" y="215225"/>
            <a:ext cx="109473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Language Models (LLMs) in IoT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8" name="Google Shape;818;g31e2bc6d316_0_3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8500" y="12"/>
            <a:ext cx="732684" cy="8346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9" name="Google Shape;819;g31e2bc6d316_0_395"/>
          <p:cNvCxnSpPr/>
          <p:nvPr/>
        </p:nvCxnSpPr>
        <p:spPr>
          <a:xfrm flipH="1" rot="10800000">
            <a:off x="27467" y="851100"/>
            <a:ext cx="121785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0" name="Google Shape;820;g31e2bc6d316_0_395"/>
          <p:cNvPicPr preferRelativeResize="0"/>
          <p:nvPr/>
        </p:nvPicPr>
        <p:blipFill rotWithShape="1">
          <a:blip r:embed="rId4">
            <a:alphaModFix/>
          </a:blip>
          <a:srcRect b="42313" l="0" r="86783" t="28603"/>
          <a:stretch/>
        </p:blipFill>
        <p:spPr>
          <a:xfrm>
            <a:off x="152400" y="2494714"/>
            <a:ext cx="1500948" cy="1183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g31e2bc6d316_0_395"/>
          <p:cNvPicPr preferRelativeResize="0"/>
          <p:nvPr/>
        </p:nvPicPr>
        <p:blipFill rotWithShape="1">
          <a:blip r:embed="rId4">
            <a:alphaModFix/>
          </a:blip>
          <a:srcRect b="3652" l="12603" r="69220" t="35057"/>
          <a:stretch/>
        </p:blipFill>
        <p:spPr>
          <a:xfrm>
            <a:off x="1584875" y="2768639"/>
            <a:ext cx="2064251" cy="249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g31e2bc6d316_0_395"/>
          <p:cNvPicPr preferRelativeResize="0"/>
          <p:nvPr/>
        </p:nvPicPr>
        <p:blipFill rotWithShape="1">
          <a:blip r:embed="rId4">
            <a:alphaModFix/>
          </a:blip>
          <a:srcRect b="5472" l="30468" r="46186" t="34918"/>
          <a:stretch/>
        </p:blipFill>
        <p:spPr>
          <a:xfrm>
            <a:off x="3604342" y="2749060"/>
            <a:ext cx="2651223" cy="242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g31e2bc6d316_0_395"/>
          <p:cNvPicPr preferRelativeResize="0"/>
          <p:nvPr/>
        </p:nvPicPr>
        <p:blipFill rotWithShape="1">
          <a:blip r:embed="rId4">
            <a:alphaModFix/>
          </a:blip>
          <a:srcRect b="64021" l="24733" r="52611" t="0"/>
          <a:stretch/>
        </p:blipFill>
        <p:spPr>
          <a:xfrm>
            <a:off x="2954541" y="1331498"/>
            <a:ext cx="2572974" cy="146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g31e2bc6d316_0_395"/>
          <p:cNvPicPr preferRelativeResize="0"/>
          <p:nvPr/>
        </p:nvPicPr>
        <p:blipFill rotWithShape="1">
          <a:blip r:embed="rId4">
            <a:alphaModFix/>
          </a:blip>
          <a:srcRect b="0" l="53712" r="38965" t="0"/>
          <a:stretch/>
        </p:blipFill>
        <p:spPr>
          <a:xfrm>
            <a:off x="6255575" y="1331489"/>
            <a:ext cx="831575" cy="407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g31e2bc6d316_0_395"/>
          <p:cNvPicPr preferRelativeResize="0"/>
          <p:nvPr/>
        </p:nvPicPr>
        <p:blipFill rotWithShape="1">
          <a:blip r:embed="rId4">
            <a:alphaModFix/>
          </a:blip>
          <a:srcRect b="0" l="60899" r="16443" t="0"/>
          <a:stretch/>
        </p:blipFill>
        <p:spPr>
          <a:xfrm>
            <a:off x="7087150" y="1331489"/>
            <a:ext cx="2572974" cy="407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g31e2bc6d316_0_395"/>
          <p:cNvPicPr preferRelativeResize="0"/>
          <p:nvPr/>
        </p:nvPicPr>
        <p:blipFill rotWithShape="1">
          <a:blip r:embed="rId4">
            <a:alphaModFix/>
          </a:blip>
          <a:srcRect b="0" l="83247" r="0" t="0"/>
          <a:stretch/>
        </p:blipFill>
        <p:spPr>
          <a:xfrm>
            <a:off x="9693601" y="1331489"/>
            <a:ext cx="1902602" cy="407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1e2bc6d316_0_344"/>
          <p:cNvSpPr txBox="1"/>
          <p:nvPr>
            <p:ph type="title"/>
          </p:nvPr>
        </p:nvSpPr>
        <p:spPr>
          <a:xfrm>
            <a:off x="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SG"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832" name="Google Shape;832;g31e2bc6d316_0_344"/>
          <p:cNvSpPr txBox="1"/>
          <p:nvPr/>
        </p:nvSpPr>
        <p:spPr>
          <a:xfrm>
            <a:off x="45550" y="1043000"/>
            <a:ext cx="11601600" cy="55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Efficiency of the resource-constrained IoT networks can be improved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Improving the nodes </a:t>
            </a:r>
            <a:r>
              <a:rPr b="0" i="0" lang="en-SG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joining time</a:t>
            </a:r>
            <a:endParaRPr/>
          </a:p>
          <a:p>
            <a:pPr indent="-190500" lvl="1" marL="8001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Efficiently and dynamically </a:t>
            </a:r>
            <a:r>
              <a:rPr b="0" i="0" lang="en-SG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scheduling data transmission cells</a:t>
            </a:r>
            <a:endParaRPr/>
          </a:p>
          <a:p>
            <a:pPr indent="-190500" lvl="1" marL="8001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Distributing</a:t>
            </a:r>
            <a:r>
              <a:rPr b="0" i="0" lang="en-SG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SG" sz="2400">
                <a:solidFill>
                  <a:srgbClr val="3F3F3F"/>
                </a:solidFill>
              </a:rPr>
              <a:t>network</a:t>
            </a:r>
            <a:r>
              <a:rPr b="0" i="0" lang="en-SG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SG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r>
              <a:rPr b="0" i="0" lang="en-SG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among the nodes equally </a:t>
            </a:r>
            <a:endParaRPr/>
          </a:p>
          <a:p>
            <a:pPr indent="-190500" lvl="1" marL="8001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■"/>
            </a:pPr>
            <a:r>
              <a:rPr b="0" i="0" lang="en-SG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Selecting the </a:t>
            </a:r>
            <a:r>
              <a:rPr b="0" i="0" lang="en-SG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routing parent efficiently </a:t>
            </a:r>
            <a:r>
              <a:rPr b="0" i="0" lang="en-SG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endParaRPr/>
          </a:p>
          <a:p>
            <a:pPr indent="-190500" lvl="1" marL="8001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SG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Detecting</a:t>
            </a:r>
            <a:r>
              <a:rPr b="0" i="0" lang="en-SG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SG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mitigating</a:t>
            </a:r>
            <a:r>
              <a:rPr b="0" i="0" lang="en-SG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0" i="0" lang="en-SG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routing attacks</a:t>
            </a:r>
            <a:endParaRPr b="0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1"/>
              </a:solidFill>
            </a:endParaRPr>
          </a:p>
          <a:p>
            <a:pPr indent="-342900" lvl="1" marL="8001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SG" sz="2400">
                <a:solidFill>
                  <a:schemeClr val="accent1"/>
                </a:solidFill>
              </a:rPr>
              <a:t>Using advanced AI technologies</a:t>
            </a:r>
            <a:r>
              <a:rPr b="0" i="0" lang="en-SG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1651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3" name="Google Shape;833;g31e2bc6d316_0_344"/>
          <p:cNvCxnSpPr/>
          <p:nvPr/>
        </p:nvCxnSpPr>
        <p:spPr>
          <a:xfrm>
            <a:off x="0" y="104298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834" name="Google Shape;834;g31e2bc6d316_0_3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8275" y="86212"/>
            <a:ext cx="732684" cy="83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6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6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6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6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6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text with a black background&#10;&#10;Description automatically generated" id="845" name="Google Shape;8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6070" y="375615"/>
            <a:ext cx="5571065" cy="5510835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26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6"/>
          <p:cNvSpPr txBox="1"/>
          <p:nvPr/>
        </p:nvSpPr>
        <p:spPr>
          <a:xfrm>
            <a:off x="4211319" y="4784721"/>
            <a:ext cx="3714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Email: alakesh.kalita1025@gmail.com</a:t>
            </a:r>
            <a:endParaRPr/>
          </a:p>
        </p:txBody>
      </p:sp>
      <p:sp>
        <p:nvSpPr>
          <p:cNvPr id="848" name="Google Shape;848;p26"/>
          <p:cNvSpPr txBox="1"/>
          <p:nvPr/>
        </p:nvSpPr>
        <p:spPr>
          <a:xfrm>
            <a:off x="4211319" y="5194501"/>
            <a:ext cx="32467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https://alakesh-kalita.github.io/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2024-06-23T18:11:33Z</dcterms:created>
  <dc:creator>Alakesh Kalita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2024-06-24T10:02:56Z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549f1eeb-c5d7-4511-a877-713ce5de9c4b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2013 - 2022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2013 - 2022 Theme:9</vt:lpwstr>
  </property>
  <property fmtid="{D5CDD505-2E9C-101B-9397-08002B2CF9AE}" pid="12" name="ClassificationContentMarkingHeaderText">
    <vt:lpwstr>Restricted</vt:lpwstr>
  </property>
</Properties>
</file>